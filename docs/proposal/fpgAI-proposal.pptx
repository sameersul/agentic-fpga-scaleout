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Tokens per second</c:v>
                </c:pt>
              </c:strCache>
            </c:strRef>
          </c:tx>
          <c:spPr>
            <a:solidFill>
              <a:srgbClr val="C2410C"/>
            </a:solidFill>
            <a:effectLst/>
          </c:spPr>
          <c:invertIfNegative val="0"/>
          <c:dLbls>
            <c:numFmt formatCode="#,##0" sourceLinked="0"/>
            <c:txPr>
              <a:bodyPr/>
              <a:lstStyle/>
              <a:p>
                <a:pPr>
                  <a:defRPr b="0" i="0" strike="noStrike" sz="1100" u="none">
                    <a:solidFill>
                      <a:srgbClr val="13161A"/>
                    </a:solidFill>
                    <a:latin typeface="Calibri"/>
                  </a:defRPr>
                </a:pPr>
              </a:p>
            </c:txPr>
            <c:showLegendKey val="0"/>
            <c:showVal val="1"/>
            <c:showCatName val="0"/>
            <c:showSerName val="0"/>
            <c:showPercent val="0"/>
            <c:showBubbleSize val="0"/>
            <c:showLeaderLines val="0"/>
          </c:dLbls>
          <c:cat>
            <c:multiLvlStrRef>
              <c:f>Sheet1!$A$2:$A$6</c:f>
              <c:multiLvlStrCache>
                <c:ptCount val="5"/>
                <c:lvl>
                  <c:pt idx="0">
                    <c:v>100 Mbps</c:v>
                  </c:pt>
                  <c:pt idx="1">
                    <c:v>1 Gbps</c:v>
                  </c:pt>
                  <c:pt idx="2">
                    <c:v>2.5 Gbps</c:v>
                  </c:pt>
                  <c:pt idx="3">
                    <c:v>10 Gbps</c:v>
                  </c:pt>
                  <c:pt idx="4">
                    <c:v>25 Gbps</c:v>
                  </c:pt>
                </c:lvl>
              </c:multiLvlStrCache>
            </c:multiLvlStrRef>
          </c:cat>
          <c:val>
            <c:numRef>
              <c:f>Sheet1!$B$2:$B$6</c:f>
              <c:numCache>
                <c:formatCode>General</c:formatCode>
                <c:ptCount val="5"/>
                <c:pt idx="0">
                  <c:v>69</c:v>
                </c:pt>
                <c:pt idx="1">
                  <c:v>342</c:v>
                </c:pt>
                <c:pt idx="2">
                  <c:v>464</c:v>
                </c:pt>
                <c:pt idx="3">
                  <c:v>565</c:v>
                </c:pt>
                <c:pt idx="4">
                  <c:v>570</c:v>
                </c:pt>
              </c:numCache>
            </c:numRef>
          </c:val>
        </c:ser>
        <c:dLbls>
          <c:numFmt formatCode="#,##0" sourceLinked="0"/>
          <c:txPr>
            <a:bodyPr/>
            <a:lstStyle/>
            <a:p>
              <a:pPr>
                <a:defRPr b="0" i="0" strike="noStrike" sz="1100" u="none">
                  <a:solidFill>
                    <a:srgbClr val="13161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A6F78"/>
                </a:solidFill>
                <a:latin typeface="Calibri"/>
              </a:defRPr>
            </a:pPr>
            <a:endParaRPr lang="en-US"/>
          </a:p>
        </c:txPr>
        <c:crossAx val="2094734552"/>
        <c:crosses val="autoZero"/>
        <c:auto val="1"/>
        <c:lblAlgn val="ctr"/>
        <c:noMultiLvlLbl val="1"/>
      </c:catAx>
      <c:valAx>
        <c:axId val="2094734552"/>
        <c:scaling>
          <c:orientation val="minMax"/>
          <c:max val="650"/>
        </c:scaling>
        <c:delete val="0"/>
        <c:axPos val="l"/>
        <c:majorGridlines>
          <c:spPr>
            <a:ln w="9525" cap="flat">
              <a:solidFill>
                <a:srgbClr val="DCD8D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A6F7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SAMEER. Two sentences: we make software agents design the chip that runs a given language model, and we make it scale across cheap boards. Then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SAMEER. Both walls are real and they compound. The second one is why students cannot participate in this field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SAMEER. Be generous about Redwood, it is good work. Their result was about the design process, not speed. The two gaps are exactly what we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SAMEER. Walk left to right once. Emphasise the feedback arrow: that is the agentic part. Hand to Yax.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YAX. The formula is the whole idea in one line. The endpoint story is the moment the system made an architecture decision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YAX. This is the single most convincing slide. The agent shipped a too-narrow register, the testbench caught it, the agent widened it, then hit the next bug. Claude Haiku has also done both blocks first 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YAX. The point is not the number, it is that we can answer hardware questions before spending money. This killed a week of shopping for 10 gigabit boards.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VAIBHAV. Say clearly that ours is a prediction and theirs is silicon. The honest claim is the cost ratio, not that we beat them. Their design was a deliberately scaled-down tile.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VAIBHAV. Stress that nobody is idle waiting for hardware. Two of the four modules are pure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SIDDH. The last line is the answer to "what if it does not work". Say it out loud, do not let them ask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SIDDH. Point at the overlap. Milestones land on two-week boundaries so they match the bi-weekly instructor meetings.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SIDDH. Do not rush this slide. Showing you have costed the failure modes is worth more than another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SAMEER. Lead with the zero. Saying the weak number yourself is more convincing than any of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SAMEER. Close on the one sentence. Then questions. Likely ones: why FPGAs not GPUs, how do you know the LLM is not just copying, what happens if the boards do not arrive.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161A"/>
        </a:solidFill>
      </p:bgPr>
    </p:bg>
    <p:spTree>
      <p:nvGrpSpPr>
        <p:cNvPr id="1" name=""/>
        <p:cNvGrpSpPr/>
        <p:nvPr/>
      </p:nvGrpSpPr>
      <p:grpSpPr>
        <a:xfrm>
          <a:off x="0" y="0"/>
          <a:ext cx="0" cy="0"/>
          <a:chOff x="0" y="0"/>
          <a:chExt cx="0" cy="0"/>
        </a:xfrm>
      </p:grpSpPr>
      <p:sp>
        <p:nvSpPr>
          <p:cNvPr id="2" name="Text 0"/>
          <p:cNvSpPr txBox="1"/>
          <p:nvPr/>
        </p:nvSpPr>
        <p:spPr>
          <a:xfrm>
            <a:off x="566928" y="2140656"/>
            <a:ext cx="11055096" cy="1246099"/>
          </a:xfrm>
          <a:prstGeom prst="rect">
            <a:avLst/>
          </a:prstGeom>
          <a:noFill/>
          <a:ln/>
        </p:spPr>
        <p:txBody>
          <a:bodyPr wrap="square" lIns="0" tIns="0" rIns="0" bIns="0" rtlCol="0" anchor="ctr"/>
          <a:lstStyle/>
          <a:p>
            <a:pPr indent="0" marL="0">
              <a:buNone/>
            </a:pPr>
            <a:r>
              <a:rPr lang="en-US" sz="6600" b="1" dirty="0">
                <a:solidFill>
                  <a:srgbClr val="FFFFFF"/>
                </a:solidFill>
                <a:latin typeface="Calibri" pitchFamily="34" charset="0"/>
                <a:ea typeface="Calibri" pitchFamily="34" charset="-122"/>
                <a:cs typeface="Calibri" pitchFamily="34" charset="-120"/>
              </a:rPr>
              <a:t>fpgAI</a:t>
            </a:r>
            <a:endParaRPr lang="en-US" sz="6600" dirty="0"/>
          </a:p>
        </p:txBody>
      </p:sp>
      <p:sp>
        <p:nvSpPr>
          <p:cNvPr id="3" name="Text 1"/>
          <p:cNvSpPr txBox="1"/>
          <p:nvPr/>
        </p:nvSpPr>
        <p:spPr>
          <a:xfrm>
            <a:off x="566928" y="3365083"/>
            <a:ext cx="11055096" cy="650138"/>
          </a:xfrm>
          <a:prstGeom prst="rect">
            <a:avLst/>
          </a:prstGeom>
          <a:noFill/>
          <a:ln/>
        </p:spPr>
        <p:txBody>
          <a:bodyPr wrap="square" lIns="0" tIns="0" rIns="0" bIns="0" rtlCol="0" anchor="ctr"/>
          <a:lstStyle/>
          <a:p>
            <a:pPr indent="0" marL="0">
              <a:buNone/>
            </a:pPr>
            <a:r>
              <a:rPr lang="en-US" sz="2300" dirty="0">
                <a:solidFill>
                  <a:srgbClr val="F0E4DA"/>
                </a:solidFill>
                <a:latin typeface="Calibri" pitchFamily="34" charset="0"/>
                <a:ea typeface="Calibri" pitchFamily="34" charset="-122"/>
                <a:cs typeface="Calibri" pitchFamily="34" charset="-120"/>
              </a:rPr>
              <a:t>Agent-designed FPGA scaleout for local LLM inference</a:t>
            </a:r>
            <a:endParaRPr lang="en-US" sz="2300" dirty="0"/>
          </a:p>
        </p:txBody>
      </p:sp>
      <p:sp>
        <p:nvSpPr>
          <p:cNvPr id="4" name="Shape 2"/>
          <p:cNvSpPr/>
          <p:nvPr/>
        </p:nvSpPr>
        <p:spPr>
          <a:xfrm>
            <a:off x="566928" y="4307784"/>
            <a:ext cx="1554480" cy="54178"/>
          </a:xfrm>
          <a:prstGeom prst="roundRect">
            <a:avLst>
              <a:gd name="adj" fmla="val 40000"/>
            </a:avLst>
          </a:prstGeom>
          <a:solidFill>
            <a:srgbClr val="C2410C"/>
          </a:solidFill>
          <a:ln w="12700">
            <a:solidFill>
              <a:srgbClr val="C2410C"/>
            </a:solidFill>
            <a:prstDash val="solid"/>
          </a:ln>
        </p:spPr>
      </p:sp>
      <p:sp>
        <p:nvSpPr>
          <p:cNvPr id="5" name="Text 3"/>
          <p:cNvSpPr txBox="1"/>
          <p:nvPr/>
        </p:nvSpPr>
        <p:spPr>
          <a:xfrm>
            <a:off x="566928" y="4741210"/>
            <a:ext cx="11055096" cy="368412"/>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Group 9   ·   Sameer Suleman, Yax Patel, Vaibhav Gopalakrishnan, Siddh Patel</a:t>
            </a:r>
            <a:endParaRPr lang="en-US" sz="1500" dirty="0"/>
          </a:p>
        </p:txBody>
      </p:sp>
      <p:sp>
        <p:nvSpPr>
          <p:cNvPr id="6" name="Text 4"/>
          <p:cNvSpPr txBox="1"/>
          <p:nvPr/>
        </p:nvSpPr>
        <p:spPr>
          <a:xfrm>
            <a:off x="566928" y="5152964"/>
            <a:ext cx="11055096" cy="368412"/>
          </a:xfrm>
          <a:prstGeom prst="rect">
            <a:avLst/>
          </a:prstGeom>
          <a:noFill/>
          <a:ln/>
        </p:spPr>
        <p:txBody>
          <a:bodyPr wrap="square" lIns="0" tIns="0" rIns="0" bIns="0" rtlCol="0" anchor="ctr"/>
          <a:lstStyle/>
          <a:p>
            <a:pPr indent="0" marL="0">
              <a:buNone/>
            </a:pPr>
            <a:r>
              <a:rPr lang="en-US" sz="1500" dirty="0">
                <a:solidFill>
                  <a:srgbClr val="6A6F78"/>
                </a:solidFill>
                <a:latin typeface="Calibri" pitchFamily="34" charset="0"/>
                <a:ea typeface="Calibri" pitchFamily="34" charset="-122"/>
                <a:cs typeface="Calibri" pitchFamily="34" charset="-120"/>
              </a:rPr>
              <a:t>Supervisor: Dr. Shirani</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566928" y="384048"/>
            <a:ext cx="329184" cy="329184"/>
          </a:xfrm>
          <a:prstGeom prst="roundRect">
            <a:avLst>
              <a:gd name="adj" fmla="val 16667"/>
            </a:avLst>
          </a:prstGeom>
          <a:solidFill>
            <a:srgbClr val="C2410C"/>
          </a:solidFill>
          <a:ln w="12700">
            <a:solidFill>
              <a:srgbClr val="C2410C"/>
            </a:solidFill>
            <a:prstDash val="solid"/>
          </a:ln>
        </p:spPr>
      </p:sp>
      <p:sp>
        <p:nvSpPr>
          <p:cNvPr id="3" name="Text 1"/>
          <p:cNvSpPr txBox="1"/>
          <p:nvPr/>
        </p:nvSpPr>
        <p:spPr>
          <a:xfrm>
            <a:off x="566928" y="3840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4" name="Text 2"/>
          <p:cNvSpPr txBox="1"/>
          <p:nvPr/>
        </p:nvSpPr>
        <p:spPr>
          <a:xfrm>
            <a:off x="1042416" y="310896"/>
            <a:ext cx="10579608" cy="512064"/>
          </a:xfrm>
          <a:prstGeom prst="rect">
            <a:avLst/>
          </a:prstGeom>
          <a:noFill/>
          <a:ln/>
        </p:spPr>
        <p:txBody>
          <a:bodyPr wrap="square" lIns="0" tIns="0" rIns="0" bIns="0" rtlCol="0" anchor="ctr"/>
          <a:lstStyle/>
          <a:p>
            <a:pPr indent="0" marL="0">
              <a:buNone/>
            </a:pPr>
            <a:r>
              <a:rPr lang="en-US" sz="3200" b="1" dirty="0">
                <a:solidFill>
                  <a:srgbClr val="13161A"/>
                </a:solidFill>
                <a:latin typeface="Calibri" pitchFamily="34" charset="0"/>
                <a:ea typeface="Calibri" pitchFamily="34" charset="-122"/>
                <a:cs typeface="Calibri" pitchFamily="34" charset="-120"/>
              </a:rPr>
              <a:t>Two walls, one project</a:t>
            </a:r>
            <a:endParaRPr lang="en-US" sz="3200" dirty="0"/>
          </a:p>
        </p:txBody>
      </p:sp>
      <p:sp>
        <p:nvSpPr>
          <p:cNvPr id="5" name="Shape 3"/>
          <p:cNvSpPr/>
          <p:nvPr/>
        </p:nvSpPr>
        <p:spPr>
          <a:xfrm>
            <a:off x="566928" y="1761409"/>
            <a:ext cx="5349240" cy="2654732"/>
          </a:xfrm>
          <a:prstGeom prst="roundRect">
            <a:avLst>
              <a:gd name="adj" fmla="val 3265"/>
            </a:avLst>
          </a:prstGeom>
          <a:solidFill>
            <a:srgbClr val="FFFFFF"/>
          </a:solidFill>
          <a:ln w="9525">
            <a:solidFill>
              <a:srgbClr val="DCD8D0"/>
            </a:solidFill>
            <a:prstDash val="solid"/>
          </a:ln>
        </p:spPr>
      </p:sp>
      <p:sp>
        <p:nvSpPr>
          <p:cNvPr id="6" name="Text 4"/>
          <p:cNvSpPr txBox="1"/>
          <p:nvPr/>
        </p:nvSpPr>
        <p:spPr>
          <a:xfrm>
            <a:off x="886968" y="2032300"/>
            <a:ext cx="4709160" cy="433426"/>
          </a:xfrm>
          <a:prstGeom prst="rect">
            <a:avLst/>
          </a:prstGeom>
          <a:noFill/>
          <a:ln/>
        </p:spPr>
        <p:txBody>
          <a:bodyPr wrap="square" lIns="0" tIns="0" rIns="0" bIns="0" rtlCol="0" anchor="ctr"/>
          <a:lstStyle/>
          <a:p>
            <a:pPr indent="0" marL="0">
              <a:buNone/>
            </a:pPr>
            <a:r>
              <a:rPr lang="en-US" sz="2100" b="1" dirty="0">
                <a:solidFill>
                  <a:srgbClr val="C2410C"/>
                </a:solidFill>
                <a:latin typeface="Calibri" pitchFamily="34" charset="0"/>
                <a:ea typeface="Calibri" pitchFamily="34" charset="-122"/>
                <a:cs typeface="Calibri" pitchFamily="34" charset="-120"/>
              </a:rPr>
              <a:t>Designing the chip</a:t>
            </a:r>
            <a:endParaRPr lang="en-US" sz="2100" dirty="0"/>
          </a:p>
        </p:txBody>
      </p:sp>
      <p:sp>
        <p:nvSpPr>
          <p:cNvPr id="7" name="Text 5"/>
          <p:cNvSpPr txBox="1"/>
          <p:nvPr/>
        </p:nvSpPr>
        <p:spPr>
          <a:xfrm>
            <a:off x="886968" y="2541575"/>
            <a:ext cx="4709160" cy="1625346"/>
          </a:xfrm>
          <a:prstGeom prst="rect">
            <a:avLst/>
          </a:prstGeom>
          <a:noFill/>
          <a:ln/>
        </p:spPr>
        <p:txBody>
          <a:bodyPr wrap="square" lIns="0" tIns="0" rIns="0" bIns="0" rtlCol="0" anchor="ctr"/>
          <a:lstStyle/>
          <a:p>
            <a:pPr indent="0" marL="0">
              <a:buNone/>
            </a:pPr>
            <a:r>
              <a:rPr lang="en-US" sz="1500" dirty="0">
                <a:solidFill>
                  <a:srgbClr val="13161A"/>
                </a:solidFill>
                <a:latin typeface="Calibri" pitchFamily="34" charset="0"/>
                <a:ea typeface="Calibri" pitchFamily="34" charset="-122"/>
                <a:cs typeface="Calibri" pitchFamily="34" charset="-120"/>
              </a:rPr>
              <a:t>A chip is specified years before the models it will run. Closing the loop takes teams of specialists months of tool iteration.</a:t>
            </a:r>
            <a:endParaRPr lang="en-US" sz="1500" dirty="0"/>
          </a:p>
        </p:txBody>
      </p:sp>
      <p:sp>
        <p:nvSpPr>
          <p:cNvPr id="8" name="Shape 6"/>
          <p:cNvSpPr/>
          <p:nvPr/>
        </p:nvSpPr>
        <p:spPr>
          <a:xfrm>
            <a:off x="6236208" y="1761409"/>
            <a:ext cx="5349240" cy="2654732"/>
          </a:xfrm>
          <a:prstGeom prst="roundRect">
            <a:avLst>
              <a:gd name="adj" fmla="val 3265"/>
            </a:avLst>
          </a:prstGeom>
          <a:solidFill>
            <a:srgbClr val="FFFFFF"/>
          </a:solidFill>
          <a:ln w="9525">
            <a:solidFill>
              <a:srgbClr val="DCD8D0"/>
            </a:solidFill>
            <a:prstDash val="solid"/>
          </a:ln>
        </p:spPr>
      </p:sp>
      <p:sp>
        <p:nvSpPr>
          <p:cNvPr id="9" name="Text 7"/>
          <p:cNvSpPr txBox="1"/>
          <p:nvPr/>
        </p:nvSpPr>
        <p:spPr>
          <a:xfrm>
            <a:off x="6556248" y="2032300"/>
            <a:ext cx="4709160" cy="433426"/>
          </a:xfrm>
          <a:prstGeom prst="rect">
            <a:avLst/>
          </a:prstGeom>
          <a:noFill/>
          <a:ln/>
        </p:spPr>
        <p:txBody>
          <a:bodyPr wrap="square" lIns="0" tIns="0" rIns="0" bIns="0" rtlCol="0" anchor="ctr"/>
          <a:lstStyle/>
          <a:p>
            <a:pPr indent="0" marL="0">
              <a:buNone/>
            </a:pPr>
            <a:r>
              <a:rPr lang="en-US" sz="2100" b="1" dirty="0">
                <a:solidFill>
                  <a:srgbClr val="C2410C"/>
                </a:solidFill>
                <a:latin typeface="Calibri" pitchFamily="34" charset="0"/>
                <a:ea typeface="Calibri" pitchFamily="34" charset="-122"/>
                <a:cs typeface="Calibri" pitchFamily="34" charset="-120"/>
              </a:rPr>
              <a:t>Affording the chip</a:t>
            </a:r>
            <a:endParaRPr lang="en-US" sz="2100" dirty="0"/>
          </a:p>
        </p:txBody>
      </p:sp>
      <p:sp>
        <p:nvSpPr>
          <p:cNvPr id="10" name="Text 8"/>
          <p:cNvSpPr txBox="1"/>
          <p:nvPr/>
        </p:nvSpPr>
        <p:spPr>
          <a:xfrm>
            <a:off x="6556248" y="2541575"/>
            <a:ext cx="4709160" cy="1625346"/>
          </a:xfrm>
          <a:prstGeom prst="rect">
            <a:avLst/>
          </a:prstGeom>
          <a:noFill/>
          <a:ln/>
        </p:spPr>
        <p:txBody>
          <a:bodyPr wrap="square" lIns="0" tIns="0" rIns="0" bIns="0" rtlCol="0" anchor="ctr"/>
          <a:lstStyle/>
          <a:p>
            <a:pPr indent="0" marL="0">
              <a:buNone/>
            </a:pPr>
            <a:r>
              <a:rPr lang="en-US" sz="1500" dirty="0">
                <a:solidFill>
                  <a:srgbClr val="13161A"/>
                </a:solidFill>
                <a:latin typeface="Calibri" pitchFamily="34" charset="0"/>
                <a:ea typeface="Calibri" pitchFamily="34" charset="-122"/>
                <a:cs typeface="Calibri" pitchFamily="34" charset="-120"/>
              </a:rPr>
              <a:t>A board a student can buy holds a fraction of a useful model. One that fits costs more than a research group’s whole budget.</a:t>
            </a:r>
            <a:endParaRPr lang="en-US" sz="1500" dirty="0"/>
          </a:p>
        </p:txBody>
      </p:sp>
      <p:sp>
        <p:nvSpPr>
          <p:cNvPr id="11" name="Text 9"/>
          <p:cNvSpPr txBox="1"/>
          <p:nvPr/>
        </p:nvSpPr>
        <p:spPr>
          <a:xfrm>
            <a:off x="566928" y="4849566"/>
            <a:ext cx="11055096" cy="541782"/>
          </a:xfrm>
          <a:prstGeom prst="rect">
            <a:avLst/>
          </a:prstGeom>
          <a:noFill/>
          <a:ln/>
        </p:spPr>
        <p:txBody>
          <a:bodyPr wrap="square" lIns="0" tIns="0" rIns="0" bIns="0" rtlCol="0" anchor="ctr"/>
          <a:lstStyle/>
          <a:p>
            <a:pPr indent="0" marL="0">
              <a:buNone/>
            </a:pPr>
            <a:r>
              <a:rPr lang="en-US" sz="1700" i="1" dirty="0">
                <a:solidFill>
                  <a:srgbClr val="6A6F78"/>
                </a:solidFill>
                <a:latin typeface="Calibri" pitchFamily="34" charset="0"/>
                <a:ea typeface="Calibri" pitchFamily="34" charset="-122"/>
                <a:cs typeface="Calibri" pitchFamily="34" charset="-120"/>
              </a:rPr>
              <a:t>Cloud inference solves neither, and sends your data off-premises. Medical, legal and industrial users cannot use it at all.</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566928" y="384048"/>
            <a:ext cx="329184" cy="329184"/>
          </a:xfrm>
          <a:prstGeom prst="roundRect">
            <a:avLst>
              <a:gd name="adj" fmla="val 16667"/>
            </a:avLst>
          </a:prstGeom>
          <a:solidFill>
            <a:srgbClr val="C2410C"/>
          </a:solidFill>
          <a:ln w="12700">
            <a:solidFill>
              <a:srgbClr val="C2410C"/>
            </a:solidFill>
            <a:prstDash val="solid"/>
          </a:ln>
        </p:spPr>
      </p:sp>
      <p:sp>
        <p:nvSpPr>
          <p:cNvPr id="3" name="Text 1"/>
          <p:cNvSpPr txBox="1"/>
          <p:nvPr/>
        </p:nvSpPr>
        <p:spPr>
          <a:xfrm>
            <a:off x="566928" y="3840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4" name="Text 2"/>
          <p:cNvSpPr txBox="1"/>
          <p:nvPr/>
        </p:nvSpPr>
        <p:spPr>
          <a:xfrm>
            <a:off x="1042416" y="310896"/>
            <a:ext cx="10579608" cy="512064"/>
          </a:xfrm>
          <a:prstGeom prst="rect">
            <a:avLst/>
          </a:prstGeom>
          <a:noFill/>
          <a:ln/>
        </p:spPr>
        <p:txBody>
          <a:bodyPr wrap="square" lIns="0" tIns="0" rIns="0" bIns="0" rtlCol="0" anchor="ctr"/>
          <a:lstStyle/>
          <a:p>
            <a:pPr indent="0" marL="0">
              <a:buNone/>
            </a:pPr>
            <a:r>
              <a:rPr lang="en-US" sz="3200" b="1" dirty="0">
                <a:solidFill>
                  <a:srgbClr val="13161A"/>
                </a:solidFill>
                <a:latin typeface="Calibri" pitchFamily="34" charset="0"/>
                <a:ea typeface="Calibri" pitchFamily="34" charset="-122"/>
                <a:cs typeface="Calibri" pitchFamily="34" charset="-120"/>
              </a:rPr>
              <a:t>What Redwood proved, and what it left open</a:t>
            </a:r>
            <a:endParaRPr lang="en-US" sz="3200" dirty="0"/>
          </a:p>
        </p:txBody>
      </p:sp>
      <p:sp>
        <p:nvSpPr>
          <p:cNvPr id="5" name="Text 3"/>
          <p:cNvSpPr txBox="1"/>
          <p:nvPr/>
        </p:nvSpPr>
        <p:spPr>
          <a:xfrm>
            <a:off x="1042416" y="841248"/>
            <a:ext cx="10579608" cy="329184"/>
          </a:xfrm>
          <a:prstGeom prst="rect">
            <a:avLst/>
          </a:prstGeom>
          <a:noFill/>
          <a:ln/>
        </p:spPr>
        <p:txBody>
          <a:bodyPr wrap="square" lIns="0" tIns="0" rIns="0" bIns="0" rtlCol="0" anchor="ctr"/>
          <a:lstStyle/>
          <a:p>
            <a:pPr indent="0" marL="0">
              <a:buNone/>
            </a:pPr>
            <a:r>
              <a:rPr lang="en-US" sz="1400" dirty="0">
                <a:solidFill>
                  <a:srgbClr val="6A6F78"/>
                </a:solidFill>
                <a:latin typeface="Calibri" pitchFamily="34" charset="0"/>
                <a:ea typeface="Calibri" pitchFamily="34" charset="-122"/>
                <a:cs typeface="Calibri" pitchFamily="34" charset="-120"/>
              </a:rPr>
              <a:t>Architect Labs, 2026. An AI system designed a working accelerator in under two weeks.</a:t>
            </a:r>
            <a:endParaRPr lang="en-US" sz="1400" dirty="0"/>
          </a:p>
        </p:txBody>
      </p:sp>
      <p:sp>
        <p:nvSpPr>
          <p:cNvPr id="6" name="Shape 4"/>
          <p:cNvSpPr/>
          <p:nvPr/>
        </p:nvSpPr>
        <p:spPr>
          <a:xfrm>
            <a:off x="566928" y="1923943"/>
            <a:ext cx="5349240" cy="3142336"/>
          </a:xfrm>
          <a:prstGeom prst="roundRect">
            <a:avLst>
              <a:gd name="adj" fmla="val 2759"/>
            </a:avLst>
          </a:prstGeom>
          <a:solidFill>
            <a:srgbClr val="FFFFFF"/>
          </a:solidFill>
          <a:ln w="9525">
            <a:solidFill>
              <a:srgbClr val="DCD8D0"/>
            </a:solidFill>
            <a:prstDash val="solid"/>
          </a:ln>
        </p:spPr>
      </p:sp>
      <p:sp>
        <p:nvSpPr>
          <p:cNvPr id="7" name="Text 5"/>
          <p:cNvSpPr txBox="1"/>
          <p:nvPr/>
        </p:nvSpPr>
        <p:spPr>
          <a:xfrm>
            <a:off x="886968" y="2173163"/>
            <a:ext cx="4709160" cy="390083"/>
          </a:xfrm>
          <a:prstGeom prst="rect">
            <a:avLst/>
          </a:prstGeom>
          <a:noFill/>
          <a:ln/>
        </p:spPr>
        <p:txBody>
          <a:bodyPr wrap="square" lIns="0" tIns="0" rIns="0" bIns="0" rtlCol="0" anchor="ctr"/>
          <a:lstStyle/>
          <a:p>
            <a:pPr indent="0" marL="0">
              <a:buNone/>
            </a:pPr>
            <a:r>
              <a:rPr lang="en-US" sz="1900" b="1" dirty="0">
                <a:solidFill>
                  <a:srgbClr val="0F766E"/>
                </a:solidFill>
                <a:latin typeface="Calibri" pitchFamily="34" charset="0"/>
                <a:ea typeface="Calibri" pitchFamily="34" charset="-122"/>
                <a:cs typeface="Calibri" pitchFamily="34" charset="-120"/>
              </a:rPr>
              <a:t>Proved</a:t>
            </a:r>
            <a:endParaRPr lang="en-US" sz="1900" dirty="0"/>
          </a:p>
        </p:txBody>
      </p:sp>
      <p:sp>
        <p:nvSpPr>
          <p:cNvPr id="8" name="Text 6"/>
          <p:cNvSpPr txBox="1"/>
          <p:nvPr/>
        </p:nvSpPr>
        <p:spPr>
          <a:xfrm>
            <a:off x="886968" y="2649931"/>
            <a:ext cx="4709160" cy="2058772"/>
          </a:xfrm>
          <a:prstGeom prst="rect">
            <a:avLst/>
          </a:prstGeom>
          <a:noFill/>
          <a:ln/>
        </p:spPr>
        <p:txBody>
          <a:bodyPr wrap="square" lIns="0" tIns="0" rIns="0" bIns="0" rtlCol="0" anchor="ctr"/>
          <a:lstStyle/>
          <a:p>
            <a:pPr marL="342900" indent="-342900">
              <a:spcAft>
                <a:spcPts val="700"/>
              </a:spcAft>
              <a:buSzPct val="100000"/>
              <a:buChar char="•"/>
            </a:pPr>
            <a:r>
              <a:rPr lang="en-US" sz="1500" dirty="0">
                <a:solidFill>
                  <a:srgbClr val="13161A"/>
                </a:solidFill>
                <a:latin typeface="Calibri" pitchFamily="34" charset="0"/>
                <a:ea typeface="Calibri" pitchFamily="34" charset="-122"/>
                <a:cs typeface="Calibri" pitchFamily="34" charset="-120"/>
              </a:rPr>
              <a:t>Agents wrote RTL, UVM, firmware and drivers</a:t>
            </a:r>
            <a:endParaRPr lang="en-US" sz="1500" dirty="0"/>
          </a:p>
          <a:p>
            <a:pPr marL="342900" indent="-342900">
              <a:spcAft>
                <a:spcPts val="700"/>
              </a:spcAft>
              <a:buSzPct val="100000"/>
              <a:buChar char="•"/>
            </a:pPr>
            <a:r>
              <a:rPr lang="en-US" sz="1500" dirty="0">
                <a:solidFill>
                  <a:srgbClr val="13161A"/>
                </a:solidFill>
                <a:latin typeface="Calibri" pitchFamily="34" charset="0"/>
                <a:ea typeface="Calibri" pitchFamily="34" charset="-122"/>
                <a:cs typeface="Calibri" pitchFamily="34" charset="-120"/>
              </a:rPr>
              <a:t>Over 95% functional coverage</a:t>
            </a:r>
            <a:endParaRPr lang="en-US" sz="1500" dirty="0"/>
          </a:p>
          <a:p>
            <a:pPr marL="342900" indent="-342900">
              <a:spcAft>
                <a:spcPts val="700"/>
              </a:spcAft>
              <a:buSzPct val="100000"/>
              <a:buChar char="•"/>
            </a:pPr>
            <a:r>
              <a:rPr lang="en-US" sz="1500" dirty="0">
                <a:solidFill>
                  <a:srgbClr val="13161A"/>
                </a:solidFill>
                <a:latin typeface="Calibri" pitchFamily="34" charset="0"/>
                <a:ea typeface="Calibri" pitchFamily="34" charset="-122"/>
                <a:cs typeface="Calibri" pitchFamily="34" charset="-120"/>
              </a:rPr>
              <a:t>Ran Qwen3-0.6B on a real FPGA</a:t>
            </a:r>
            <a:endParaRPr lang="en-US" sz="1500" dirty="0"/>
          </a:p>
        </p:txBody>
      </p:sp>
      <p:sp>
        <p:nvSpPr>
          <p:cNvPr id="9" name="Shape 7"/>
          <p:cNvSpPr/>
          <p:nvPr/>
        </p:nvSpPr>
        <p:spPr>
          <a:xfrm>
            <a:off x="6272784" y="1923943"/>
            <a:ext cx="5349240" cy="3142336"/>
          </a:xfrm>
          <a:prstGeom prst="roundRect">
            <a:avLst>
              <a:gd name="adj" fmla="val 2759"/>
            </a:avLst>
          </a:prstGeom>
          <a:solidFill>
            <a:srgbClr val="F0E4DA"/>
          </a:solidFill>
          <a:ln w="9525">
            <a:solidFill>
              <a:srgbClr val="DCD8D0"/>
            </a:solidFill>
            <a:prstDash val="solid"/>
          </a:ln>
        </p:spPr>
      </p:sp>
      <p:sp>
        <p:nvSpPr>
          <p:cNvPr id="10" name="Text 8"/>
          <p:cNvSpPr txBox="1"/>
          <p:nvPr/>
        </p:nvSpPr>
        <p:spPr>
          <a:xfrm>
            <a:off x="6592824" y="2173163"/>
            <a:ext cx="4709160" cy="390083"/>
          </a:xfrm>
          <a:prstGeom prst="rect">
            <a:avLst/>
          </a:prstGeom>
          <a:noFill/>
          <a:ln/>
        </p:spPr>
        <p:txBody>
          <a:bodyPr wrap="square" lIns="0" tIns="0" rIns="0" bIns="0" rtlCol="0" anchor="ctr"/>
          <a:lstStyle/>
          <a:p>
            <a:pPr indent="0" marL="0">
              <a:buNone/>
            </a:pPr>
            <a:r>
              <a:rPr lang="en-US" sz="1900" b="1" dirty="0">
                <a:solidFill>
                  <a:srgbClr val="C2410C"/>
                </a:solidFill>
                <a:latin typeface="Calibri" pitchFamily="34" charset="0"/>
                <a:ea typeface="Calibri" pitchFamily="34" charset="-122"/>
                <a:cs typeface="Calibri" pitchFamily="34" charset="-120"/>
              </a:rPr>
              <a:t>Left open</a:t>
            </a:r>
            <a:endParaRPr lang="en-US" sz="1900" dirty="0"/>
          </a:p>
        </p:txBody>
      </p:sp>
      <p:sp>
        <p:nvSpPr>
          <p:cNvPr id="11" name="Text 9"/>
          <p:cNvSpPr txBox="1"/>
          <p:nvPr/>
        </p:nvSpPr>
        <p:spPr>
          <a:xfrm>
            <a:off x="6592824" y="2649931"/>
            <a:ext cx="4709160" cy="2058772"/>
          </a:xfrm>
          <a:prstGeom prst="rect">
            <a:avLst/>
          </a:prstGeom>
          <a:noFill/>
          <a:ln/>
        </p:spPr>
        <p:txBody>
          <a:bodyPr wrap="square" lIns="0" tIns="0" rIns="0" bIns="0" rtlCol="0" anchor="ctr"/>
          <a:lstStyle/>
          <a:p>
            <a:pPr marL="342900" indent="-342900">
              <a:spcAft>
                <a:spcPts val="700"/>
              </a:spcAft>
              <a:buSzPct val="100000"/>
              <a:buChar char="•"/>
            </a:pPr>
            <a:r>
              <a:rPr lang="en-US" sz="1500" dirty="0">
                <a:solidFill>
                  <a:srgbClr val="13161A"/>
                </a:solidFill>
                <a:latin typeface="Calibri" pitchFamily="34" charset="0"/>
                <a:ea typeface="Calibri" pitchFamily="34" charset="-122"/>
                <a:cs typeface="Calibri" pitchFamily="34" charset="-120"/>
              </a:rPr>
              <a:t>Architecture written by two human architects, not derived from the model</a:t>
            </a:r>
            <a:endParaRPr lang="en-US" sz="1500" dirty="0"/>
          </a:p>
          <a:p>
            <a:pPr marL="342900" indent="-342900">
              <a:spcAft>
                <a:spcPts val="700"/>
              </a:spcAft>
              <a:buSzPct val="100000"/>
              <a:buChar char="•"/>
            </a:pPr>
            <a:r>
              <a:rPr lang="en-US" sz="1500" dirty="0">
                <a:solidFill>
                  <a:srgbClr val="13161A"/>
                </a:solidFill>
                <a:latin typeface="Calibri" pitchFamily="34" charset="0"/>
                <a:ea typeface="Calibri" pitchFamily="34" charset="-122"/>
                <a:cs typeface="Calibri" pitchFamily="34" charset="-120"/>
              </a:rPr>
              <a:t>One chip. No inter-chip scaleout at all</a:t>
            </a:r>
            <a:endParaRPr lang="en-US" sz="1500" dirty="0"/>
          </a:p>
          <a:p>
            <a:pPr marL="342900" indent="-342900">
              <a:spcAft>
                <a:spcPts val="700"/>
              </a:spcAft>
              <a:buSzPct val="100000"/>
              <a:buChar char="•"/>
            </a:pPr>
            <a:r>
              <a:rPr lang="en-US" sz="1500" dirty="0">
                <a:solidFill>
                  <a:srgbClr val="13161A"/>
                </a:solidFill>
                <a:latin typeface="Calibri" pitchFamily="34" charset="0"/>
                <a:ea typeface="Calibri" pitchFamily="34" charset="-122"/>
                <a:cs typeface="Calibri" pitchFamily="34" charset="-120"/>
              </a:rPr>
              <a:t>12.1 tok/s, slower than a $250 Jetson</a:t>
            </a:r>
            <a:endParaRPr lang="en-US" sz="1500" dirty="0"/>
          </a:p>
        </p:txBody>
      </p:sp>
      <p:sp>
        <p:nvSpPr>
          <p:cNvPr id="12" name="Text 10"/>
          <p:cNvSpPr txBox="1"/>
          <p:nvPr/>
        </p:nvSpPr>
        <p:spPr>
          <a:xfrm>
            <a:off x="566928" y="5337170"/>
            <a:ext cx="11055096" cy="487604"/>
          </a:xfrm>
          <a:prstGeom prst="rect">
            <a:avLst/>
          </a:prstGeom>
          <a:noFill/>
          <a:ln/>
        </p:spPr>
        <p:txBody>
          <a:bodyPr wrap="square" lIns="0" tIns="0" rIns="0" bIns="0" rtlCol="0" anchor="ctr"/>
          <a:lstStyle/>
          <a:p>
            <a:pPr indent="0" marL="0">
              <a:buNone/>
            </a:pPr>
            <a:r>
              <a:rPr lang="en-US" sz="2000" b="1" dirty="0">
                <a:solidFill>
                  <a:srgbClr val="13161A"/>
                </a:solidFill>
                <a:latin typeface="Calibri" pitchFamily="34" charset="0"/>
                <a:ea typeface="Calibri" pitchFamily="34" charset="-122"/>
                <a:cs typeface="Calibri" pitchFamily="34" charset="-120"/>
              </a:rPr>
              <a:t>Those two gaps are our project.</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566928" y="384048"/>
            <a:ext cx="329184" cy="329184"/>
          </a:xfrm>
          <a:prstGeom prst="roundRect">
            <a:avLst>
              <a:gd name="adj" fmla="val 16667"/>
            </a:avLst>
          </a:prstGeom>
          <a:solidFill>
            <a:srgbClr val="C2410C"/>
          </a:solidFill>
          <a:ln w="12700">
            <a:solidFill>
              <a:srgbClr val="C2410C"/>
            </a:solidFill>
            <a:prstDash val="solid"/>
          </a:ln>
        </p:spPr>
      </p:sp>
      <p:sp>
        <p:nvSpPr>
          <p:cNvPr id="3" name="Text 1"/>
          <p:cNvSpPr txBox="1"/>
          <p:nvPr/>
        </p:nvSpPr>
        <p:spPr>
          <a:xfrm>
            <a:off x="566928" y="3840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4" name="Text 2"/>
          <p:cNvSpPr txBox="1"/>
          <p:nvPr/>
        </p:nvSpPr>
        <p:spPr>
          <a:xfrm>
            <a:off x="1042416" y="310896"/>
            <a:ext cx="10579608" cy="512064"/>
          </a:xfrm>
          <a:prstGeom prst="rect">
            <a:avLst/>
          </a:prstGeom>
          <a:noFill/>
          <a:ln/>
        </p:spPr>
        <p:txBody>
          <a:bodyPr wrap="square" lIns="0" tIns="0" rIns="0" bIns="0" rtlCol="0" anchor="ctr"/>
          <a:lstStyle/>
          <a:p>
            <a:pPr indent="0" marL="0">
              <a:buNone/>
            </a:pPr>
            <a:r>
              <a:rPr lang="en-US" sz="3200" b="1" dirty="0">
                <a:solidFill>
                  <a:srgbClr val="13161A"/>
                </a:solidFill>
                <a:latin typeface="Calibri" pitchFamily="34" charset="0"/>
                <a:ea typeface="Calibri" pitchFamily="34" charset="-122"/>
                <a:cs typeface="Calibri" pitchFamily="34" charset="-120"/>
              </a:rPr>
              <a:t>The system</a:t>
            </a:r>
            <a:endParaRPr lang="en-US" sz="3200" dirty="0"/>
          </a:p>
        </p:txBody>
      </p:sp>
      <p:sp>
        <p:nvSpPr>
          <p:cNvPr id="5" name="Text 3"/>
          <p:cNvSpPr txBox="1"/>
          <p:nvPr/>
        </p:nvSpPr>
        <p:spPr>
          <a:xfrm>
            <a:off x="1042416" y="841248"/>
            <a:ext cx="10579608" cy="329184"/>
          </a:xfrm>
          <a:prstGeom prst="rect">
            <a:avLst/>
          </a:prstGeom>
          <a:noFill/>
          <a:ln/>
        </p:spPr>
        <p:txBody>
          <a:bodyPr wrap="square" lIns="0" tIns="0" rIns="0" bIns="0" rtlCol="0" anchor="ctr"/>
          <a:lstStyle/>
          <a:p>
            <a:pPr indent="0" marL="0">
              <a:buNone/>
            </a:pPr>
            <a:r>
              <a:rPr lang="en-US" sz="1400" dirty="0">
                <a:solidFill>
                  <a:srgbClr val="6A6F78"/>
                </a:solidFill>
                <a:latin typeface="Calibri" pitchFamily="34" charset="0"/>
                <a:ea typeface="Calibri" pitchFamily="34" charset="-122"/>
                <a:cs typeface="Calibri" pitchFamily="34" charset="-120"/>
              </a:rPr>
              <a:t>A model specification goes in. Working hardware comes out.</a:t>
            </a:r>
            <a:endParaRPr lang="en-US" sz="1400" dirty="0"/>
          </a:p>
        </p:txBody>
      </p:sp>
      <p:sp>
        <p:nvSpPr>
          <p:cNvPr id="6" name="Shape 4"/>
          <p:cNvSpPr/>
          <p:nvPr/>
        </p:nvSpPr>
        <p:spPr>
          <a:xfrm>
            <a:off x="566928" y="2086478"/>
            <a:ext cx="2011680" cy="1896237"/>
          </a:xfrm>
          <a:prstGeom prst="roundRect">
            <a:avLst>
              <a:gd name="adj" fmla="val 4571"/>
            </a:avLst>
          </a:prstGeom>
          <a:solidFill>
            <a:srgbClr val="FFFFFF"/>
          </a:solidFill>
          <a:ln w="9525">
            <a:solidFill>
              <a:srgbClr val="DCD8D0"/>
            </a:solidFill>
            <a:prstDash val="solid"/>
          </a:ln>
        </p:spPr>
      </p:sp>
      <p:sp>
        <p:nvSpPr>
          <p:cNvPr id="7" name="Text 5"/>
          <p:cNvSpPr txBox="1"/>
          <p:nvPr/>
        </p:nvSpPr>
        <p:spPr>
          <a:xfrm>
            <a:off x="713232" y="2281519"/>
            <a:ext cx="1719072" cy="541782"/>
          </a:xfrm>
          <a:prstGeom prst="rect">
            <a:avLst/>
          </a:prstGeom>
          <a:noFill/>
          <a:ln/>
        </p:spPr>
        <p:txBody>
          <a:bodyPr wrap="square" lIns="0" tIns="0" rIns="0" bIns="0" rtlCol="0" anchor="ctr"/>
          <a:lstStyle/>
          <a:p>
            <a:pPr algn="ctr" indent="0" marL="0">
              <a:buNone/>
            </a:pPr>
            <a:r>
              <a:rPr lang="en-US" sz="1500" b="1" dirty="0">
                <a:solidFill>
                  <a:srgbClr val="13161A"/>
                </a:solidFill>
                <a:latin typeface="Calibri" pitchFamily="34" charset="0"/>
                <a:ea typeface="Calibri" pitchFamily="34" charset="-122"/>
                <a:cs typeface="Calibri" pitchFamily="34" charset="-120"/>
              </a:rPr>
              <a:t>Model spec</a:t>
            </a:r>
            <a:endParaRPr lang="en-US" sz="1500" dirty="0"/>
          </a:p>
        </p:txBody>
      </p:sp>
      <p:sp>
        <p:nvSpPr>
          <p:cNvPr id="8" name="Text 6"/>
          <p:cNvSpPr txBox="1"/>
          <p:nvPr/>
        </p:nvSpPr>
        <p:spPr>
          <a:xfrm>
            <a:off x="713232" y="2823301"/>
            <a:ext cx="1719072" cy="1029386"/>
          </a:xfrm>
          <a:prstGeom prst="rect">
            <a:avLst/>
          </a:prstGeom>
          <a:noFill/>
          <a:ln/>
        </p:spPr>
        <p:txBody>
          <a:bodyPr wrap="square" lIns="0" tIns="0" rIns="0" bIns="0" rtlCol="0" anchor="ctr"/>
          <a:lstStyle/>
          <a:p>
            <a:pPr algn="ctr" indent="0" marL="0">
              <a:buNone/>
            </a:pPr>
            <a:r>
              <a:rPr lang="en-US" sz="1150" dirty="0">
                <a:solidFill>
                  <a:srgbClr val="6A6F78"/>
                </a:solidFill>
                <a:latin typeface="Calibri" pitchFamily="34" charset="0"/>
                <a:ea typeface="Calibri" pitchFamily="34" charset="-122"/>
                <a:cs typeface="Calibri" pitchFamily="34" charset="-120"/>
              </a:rPr>
              <a:t>Qwen3-0.6B, int8</a:t>
            </a:r>
            <a:endParaRPr lang="en-US" sz="1150" dirty="0"/>
          </a:p>
        </p:txBody>
      </p:sp>
      <p:sp>
        <p:nvSpPr>
          <p:cNvPr id="9" name="Text 7"/>
          <p:cNvSpPr txBox="1"/>
          <p:nvPr/>
        </p:nvSpPr>
        <p:spPr>
          <a:xfrm>
            <a:off x="2560320" y="2736616"/>
            <a:ext cx="274320" cy="541782"/>
          </a:xfrm>
          <a:prstGeom prst="rect">
            <a:avLst/>
          </a:prstGeom>
          <a:noFill/>
          <a:ln/>
        </p:spPr>
        <p:txBody>
          <a:bodyPr wrap="square" lIns="0" tIns="0" rIns="0" bIns="0" rtlCol="0" anchor="ctr"/>
          <a:lstStyle/>
          <a:p>
            <a:pPr algn="ctr" indent="0" marL="0">
              <a:buNone/>
            </a:pPr>
            <a:r>
              <a:rPr lang="en-US" sz="1900" dirty="0">
                <a:solidFill>
                  <a:srgbClr val="C2410C"/>
                </a:solidFill>
                <a:latin typeface="Calibri" pitchFamily="34" charset="0"/>
                <a:ea typeface="Calibri" pitchFamily="34" charset="-122"/>
                <a:cs typeface="Calibri" pitchFamily="34" charset="-120"/>
              </a:rPr>
              <a:t>→</a:t>
            </a:r>
            <a:endParaRPr lang="en-US" sz="1900" dirty="0"/>
          </a:p>
        </p:txBody>
      </p:sp>
      <p:sp>
        <p:nvSpPr>
          <p:cNvPr id="10" name="Shape 8"/>
          <p:cNvSpPr/>
          <p:nvPr/>
        </p:nvSpPr>
        <p:spPr>
          <a:xfrm>
            <a:off x="2798064" y="2086478"/>
            <a:ext cx="2011680" cy="1896237"/>
          </a:xfrm>
          <a:prstGeom prst="roundRect">
            <a:avLst>
              <a:gd name="adj" fmla="val 4571"/>
            </a:avLst>
          </a:prstGeom>
          <a:solidFill>
            <a:srgbClr val="FFFFFF"/>
          </a:solidFill>
          <a:ln w="9525">
            <a:solidFill>
              <a:srgbClr val="DCD8D0"/>
            </a:solidFill>
            <a:prstDash val="solid"/>
          </a:ln>
        </p:spPr>
      </p:sp>
      <p:sp>
        <p:nvSpPr>
          <p:cNvPr id="11" name="Text 9"/>
          <p:cNvSpPr txBox="1"/>
          <p:nvPr/>
        </p:nvSpPr>
        <p:spPr>
          <a:xfrm>
            <a:off x="2944368" y="2281519"/>
            <a:ext cx="1719072" cy="541782"/>
          </a:xfrm>
          <a:prstGeom prst="rect">
            <a:avLst/>
          </a:prstGeom>
          <a:noFill/>
          <a:ln/>
        </p:spPr>
        <p:txBody>
          <a:bodyPr wrap="square" lIns="0" tIns="0" rIns="0" bIns="0" rtlCol="0" anchor="ctr"/>
          <a:lstStyle/>
          <a:p>
            <a:pPr algn="ctr" indent="0" marL="0">
              <a:buNone/>
            </a:pPr>
            <a:r>
              <a:rPr lang="en-US" sz="1500" b="1" dirty="0">
                <a:solidFill>
                  <a:srgbClr val="13161A"/>
                </a:solidFill>
                <a:latin typeface="Calibri" pitchFamily="34" charset="0"/>
                <a:ea typeface="Calibri" pitchFamily="34" charset="-122"/>
                <a:cs typeface="Calibri" pitchFamily="34" charset="-120"/>
              </a:rPr>
              <a:t>Derive</a:t>
            </a:r>
            <a:endParaRPr lang="en-US" sz="1500" dirty="0"/>
          </a:p>
        </p:txBody>
      </p:sp>
      <p:sp>
        <p:nvSpPr>
          <p:cNvPr id="12" name="Text 10"/>
          <p:cNvSpPr txBox="1"/>
          <p:nvPr/>
        </p:nvSpPr>
        <p:spPr>
          <a:xfrm>
            <a:off x="2944368" y="2823301"/>
            <a:ext cx="1719072" cy="1029386"/>
          </a:xfrm>
          <a:prstGeom prst="rect">
            <a:avLst/>
          </a:prstGeom>
          <a:noFill/>
          <a:ln/>
        </p:spPr>
        <p:txBody>
          <a:bodyPr wrap="square" lIns="0" tIns="0" rIns="0" bIns="0" rtlCol="0" anchor="ctr"/>
          <a:lstStyle/>
          <a:p>
            <a:pPr algn="ctr" indent="0" marL="0">
              <a:buNone/>
            </a:pPr>
            <a:r>
              <a:rPr lang="en-US" sz="1150" dirty="0">
                <a:solidFill>
                  <a:srgbClr val="6A6F78"/>
                </a:solidFill>
                <a:latin typeface="Calibri" pitchFamily="34" charset="0"/>
                <a:ea typeface="Calibri" pitchFamily="34" charset="-122"/>
                <a:cs typeface="Calibri" pitchFamily="34" charset="-120"/>
              </a:rPr>
              <a:t>datapath and</a:t>
            </a:r>
            <a:endParaRPr lang="en-US" sz="1150" dirty="0"/>
          </a:p>
          <a:p>
            <a:pPr algn="ctr" indent="0" marL="0">
              <a:buNone/>
            </a:pPr>
            <a:r>
              <a:rPr lang="en-US" sz="1150" dirty="0">
                <a:solidFill>
                  <a:srgbClr val="6A6F78"/>
                </a:solidFill>
                <a:latin typeface="Calibri" pitchFamily="34" charset="0"/>
                <a:ea typeface="Calibri" pitchFamily="34" charset="-122"/>
                <a:cs typeface="Calibri" pitchFamily="34" charset="-120"/>
              </a:rPr>
              <a:t>fabric widths</a:t>
            </a:r>
            <a:endParaRPr lang="en-US" sz="1150" dirty="0"/>
          </a:p>
        </p:txBody>
      </p:sp>
      <p:sp>
        <p:nvSpPr>
          <p:cNvPr id="13" name="Text 11"/>
          <p:cNvSpPr txBox="1"/>
          <p:nvPr/>
        </p:nvSpPr>
        <p:spPr>
          <a:xfrm>
            <a:off x="4791456" y="2736616"/>
            <a:ext cx="274320" cy="541782"/>
          </a:xfrm>
          <a:prstGeom prst="rect">
            <a:avLst/>
          </a:prstGeom>
          <a:noFill/>
          <a:ln/>
        </p:spPr>
        <p:txBody>
          <a:bodyPr wrap="square" lIns="0" tIns="0" rIns="0" bIns="0" rtlCol="0" anchor="ctr"/>
          <a:lstStyle/>
          <a:p>
            <a:pPr algn="ctr" indent="0" marL="0">
              <a:buNone/>
            </a:pPr>
            <a:r>
              <a:rPr lang="en-US" sz="1900" dirty="0">
                <a:solidFill>
                  <a:srgbClr val="C2410C"/>
                </a:solidFill>
                <a:latin typeface="Calibri" pitchFamily="34" charset="0"/>
                <a:ea typeface="Calibri" pitchFamily="34" charset="-122"/>
                <a:cs typeface="Calibri" pitchFamily="34" charset="-120"/>
              </a:rPr>
              <a:t>→</a:t>
            </a:r>
            <a:endParaRPr lang="en-US" sz="1900" dirty="0"/>
          </a:p>
        </p:txBody>
      </p:sp>
      <p:sp>
        <p:nvSpPr>
          <p:cNvPr id="14" name="Shape 12"/>
          <p:cNvSpPr/>
          <p:nvPr/>
        </p:nvSpPr>
        <p:spPr>
          <a:xfrm>
            <a:off x="5029200" y="2086478"/>
            <a:ext cx="2011680" cy="1896237"/>
          </a:xfrm>
          <a:prstGeom prst="roundRect">
            <a:avLst>
              <a:gd name="adj" fmla="val 4571"/>
            </a:avLst>
          </a:prstGeom>
          <a:solidFill>
            <a:srgbClr val="F0E4DA"/>
          </a:solidFill>
          <a:ln w="9525">
            <a:solidFill>
              <a:srgbClr val="DCD8D0"/>
            </a:solidFill>
            <a:prstDash val="solid"/>
          </a:ln>
        </p:spPr>
      </p:sp>
      <p:sp>
        <p:nvSpPr>
          <p:cNvPr id="15" name="Text 13"/>
          <p:cNvSpPr txBox="1"/>
          <p:nvPr/>
        </p:nvSpPr>
        <p:spPr>
          <a:xfrm>
            <a:off x="5175504" y="2281519"/>
            <a:ext cx="1719072" cy="541782"/>
          </a:xfrm>
          <a:prstGeom prst="rect">
            <a:avLst/>
          </a:prstGeom>
          <a:noFill/>
          <a:ln/>
        </p:spPr>
        <p:txBody>
          <a:bodyPr wrap="square" lIns="0" tIns="0" rIns="0" bIns="0" rtlCol="0" anchor="ctr"/>
          <a:lstStyle/>
          <a:p>
            <a:pPr algn="ctr" indent="0" marL="0">
              <a:buNone/>
            </a:pPr>
            <a:r>
              <a:rPr lang="en-US" sz="1500" b="1" dirty="0">
                <a:solidFill>
                  <a:srgbClr val="C2410C"/>
                </a:solidFill>
                <a:latin typeface="Calibri" pitchFamily="34" charset="0"/>
                <a:ea typeface="Calibri" pitchFamily="34" charset="-122"/>
                <a:cs typeface="Calibri" pitchFamily="34" charset="-120"/>
              </a:rPr>
              <a:t>LLM writes RTL</a:t>
            </a:r>
            <a:endParaRPr lang="en-US" sz="1500" dirty="0"/>
          </a:p>
        </p:txBody>
      </p:sp>
      <p:sp>
        <p:nvSpPr>
          <p:cNvPr id="16" name="Text 14"/>
          <p:cNvSpPr txBox="1"/>
          <p:nvPr/>
        </p:nvSpPr>
        <p:spPr>
          <a:xfrm>
            <a:off x="5175504" y="2823301"/>
            <a:ext cx="1719072" cy="1029386"/>
          </a:xfrm>
          <a:prstGeom prst="rect">
            <a:avLst/>
          </a:prstGeom>
          <a:noFill/>
          <a:ln/>
        </p:spPr>
        <p:txBody>
          <a:bodyPr wrap="square" lIns="0" tIns="0" rIns="0" bIns="0" rtlCol="0" anchor="ctr"/>
          <a:lstStyle/>
          <a:p>
            <a:pPr algn="ctr" indent="0" marL="0">
              <a:buNone/>
            </a:pPr>
            <a:r>
              <a:rPr lang="en-US" sz="1150" dirty="0">
                <a:solidFill>
                  <a:srgbClr val="6A6F78"/>
                </a:solidFill>
                <a:latin typeface="Calibri" pitchFamily="34" charset="0"/>
                <a:ea typeface="Calibri" pitchFamily="34" charset="-122"/>
                <a:cs typeface="Calibri" pitchFamily="34" charset="-120"/>
              </a:rPr>
              <a:t>compute and</a:t>
            </a:r>
            <a:endParaRPr lang="en-US" sz="1150" dirty="0"/>
          </a:p>
          <a:p>
            <a:pPr algn="ctr" indent="0" marL="0">
              <a:buNone/>
            </a:pPr>
            <a:r>
              <a:rPr lang="en-US" sz="1150" dirty="0">
                <a:solidFill>
                  <a:srgbClr val="6A6F78"/>
                </a:solidFill>
                <a:latin typeface="Calibri" pitchFamily="34" charset="0"/>
                <a:ea typeface="Calibri" pitchFamily="34" charset="-122"/>
                <a:cs typeface="Calibri" pitchFamily="34" charset="-120"/>
              </a:rPr>
              <a:t>link endpoint</a:t>
            </a:r>
            <a:endParaRPr lang="en-US" sz="1150" dirty="0"/>
          </a:p>
        </p:txBody>
      </p:sp>
      <p:sp>
        <p:nvSpPr>
          <p:cNvPr id="17" name="Text 15"/>
          <p:cNvSpPr txBox="1"/>
          <p:nvPr/>
        </p:nvSpPr>
        <p:spPr>
          <a:xfrm>
            <a:off x="7022592" y="2736616"/>
            <a:ext cx="274320" cy="541782"/>
          </a:xfrm>
          <a:prstGeom prst="rect">
            <a:avLst/>
          </a:prstGeom>
          <a:noFill/>
          <a:ln/>
        </p:spPr>
        <p:txBody>
          <a:bodyPr wrap="square" lIns="0" tIns="0" rIns="0" bIns="0" rtlCol="0" anchor="ctr"/>
          <a:lstStyle/>
          <a:p>
            <a:pPr algn="ctr" indent="0" marL="0">
              <a:buNone/>
            </a:pPr>
            <a:r>
              <a:rPr lang="en-US" sz="1900" dirty="0">
                <a:solidFill>
                  <a:srgbClr val="C2410C"/>
                </a:solidFill>
                <a:latin typeface="Calibri" pitchFamily="34" charset="0"/>
                <a:ea typeface="Calibri" pitchFamily="34" charset="-122"/>
                <a:cs typeface="Calibri" pitchFamily="34" charset="-120"/>
              </a:rPr>
              <a:t>→</a:t>
            </a:r>
            <a:endParaRPr lang="en-US" sz="1900" dirty="0"/>
          </a:p>
        </p:txBody>
      </p:sp>
      <p:sp>
        <p:nvSpPr>
          <p:cNvPr id="18" name="Shape 16"/>
          <p:cNvSpPr/>
          <p:nvPr/>
        </p:nvSpPr>
        <p:spPr>
          <a:xfrm>
            <a:off x="7260336" y="2086478"/>
            <a:ext cx="2011680" cy="1896237"/>
          </a:xfrm>
          <a:prstGeom prst="roundRect">
            <a:avLst>
              <a:gd name="adj" fmla="val 4571"/>
            </a:avLst>
          </a:prstGeom>
          <a:solidFill>
            <a:srgbClr val="FFFFFF"/>
          </a:solidFill>
          <a:ln w="9525">
            <a:solidFill>
              <a:srgbClr val="DCD8D0"/>
            </a:solidFill>
            <a:prstDash val="solid"/>
          </a:ln>
        </p:spPr>
      </p:sp>
      <p:sp>
        <p:nvSpPr>
          <p:cNvPr id="19" name="Text 17"/>
          <p:cNvSpPr txBox="1"/>
          <p:nvPr/>
        </p:nvSpPr>
        <p:spPr>
          <a:xfrm>
            <a:off x="7406640" y="2281519"/>
            <a:ext cx="1719072" cy="541782"/>
          </a:xfrm>
          <a:prstGeom prst="rect">
            <a:avLst/>
          </a:prstGeom>
          <a:noFill/>
          <a:ln/>
        </p:spPr>
        <p:txBody>
          <a:bodyPr wrap="square" lIns="0" tIns="0" rIns="0" bIns="0" rtlCol="0" anchor="ctr"/>
          <a:lstStyle/>
          <a:p>
            <a:pPr algn="ctr" indent="0" marL="0">
              <a:buNone/>
            </a:pPr>
            <a:r>
              <a:rPr lang="en-US" sz="1500" b="1" dirty="0">
                <a:solidFill>
                  <a:srgbClr val="13161A"/>
                </a:solidFill>
                <a:latin typeface="Calibri" pitchFamily="34" charset="0"/>
                <a:ea typeface="Calibri" pitchFamily="34" charset="-122"/>
                <a:cs typeface="Calibri" pitchFamily="34" charset="-120"/>
              </a:rPr>
              <a:t>Five tool gates</a:t>
            </a:r>
            <a:endParaRPr lang="en-US" sz="1500" dirty="0"/>
          </a:p>
        </p:txBody>
      </p:sp>
      <p:sp>
        <p:nvSpPr>
          <p:cNvPr id="20" name="Text 18"/>
          <p:cNvSpPr txBox="1"/>
          <p:nvPr/>
        </p:nvSpPr>
        <p:spPr>
          <a:xfrm>
            <a:off x="7406640" y="2823301"/>
            <a:ext cx="1719072" cy="1029386"/>
          </a:xfrm>
          <a:prstGeom prst="rect">
            <a:avLst/>
          </a:prstGeom>
          <a:noFill/>
          <a:ln/>
        </p:spPr>
        <p:txBody>
          <a:bodyPr wrap="square" lIns="0" tIns="0" rIns="0" bIns="0" rtlCol="0" anchor="ctr"/>
          <a:lstStyle/>
          <a:p>
            <a:pPr algn="ctr" indent="0" marL="0">
              <a:buNone/>
            </a:pPr>
            <a:r>
              <a:rPr lang="en-US" sz="1150" dirty="0">
                <a:solidFill>
                  <a:srgbClr val="6A6F78"/>
                </a:solidFill>
                <a:latin typeface="Calibri" pitchFamily="34" charset="0"/>
                <a:ea typeface="Calibri" pitchFamily="34" charset="-122"/>
                <a:cs typeface="Calibri" pitchFamily="34" charset="-120"/>
              </a:rPr>
              <a:t>sim, synth, timing,</a:t>
            </a:r>
            <a:endParaRPr lang="en-US" sz="1150" dirty="0"/>
          </a:p>
          <a:p>
            <a:pPr algn="ctr" indent="0" marL="0">
              <a:buNone/>
            </a:pPr>
            <a:r>
              <a:rPr lang="en-US" sz="1150" dirty="0">
                <a:solidFill>
                  <a:srgbClr val="6A6F78"/>
                </a:solidFill>
                <a:latin typeface="Calibri" pitchFamily="34" charset="0"/>
                <a:ea typeface="Calibri" pitchFamily="34" charset="-122"/>
                <a:cs typeface="Calibri" pitchFamily="34" charset="-120"/>
              </a:rPr>
              <a:t>map, place-and-route</a:t>
            </a:r>
            <a:endParaRPr lang="en-US" sz="1150" dirty="0"/>
          </a:p>
        </p:txBody>
      </p:sp>
      <p:sp>
        <p:nvSpPr>
          <p:cNvPr id="21" name="Text 19"/>
          <p:cNvSpPr txBox="1"/>
          <p:nvPr/>
        </p:nvSpPr>
        <p:spPr>
          <a:xfrm>
            <a:off x="9253728" y="2736616"/>
            <a:ext cx="274320" cy="541782"/>
          </a:xfrm>
          <a:prstGeom prst="rect">
            <a:avLst/>
          </a:prstGeom>
          <a:noFill/>
          <a:ln/>
        </p:spPr>
        <p:txBody>
          <a:bodyPr wrap="square" lIns="0" tIns="0" rIns="0" bIns="0" rtlCol="0" anchor="ctr"/>
          <a:lstStyle/>
          <a:p>
            <a:pPr algn="ctr" indent="0" marL="0">
              <a:buNone/>
            </a:pPr>
            <a:r>
              <a:rPr lang="en-US" sz="1900" dirty="0">
                <a:solidFill>
                  <a:srgbClr val="C2410C"/>
                </a:solidFill>
                <a:latin typeface="Calibri" pitchFamily="34" charset="0"/>
                <a:ea typeface="Calibri" pitchFamily="34" charset="-122"/>
                <a:cs typeface="Calibri" pitchFamily="34" charset="-120"/>
              </a:rPr>
              <a:t>→</a:t>
            </a:r>
            <a:endParaRPr lang="en-US" sz="1900" dirty="0"/>
          </a:p>
        </p:txBody>
      </p:sp>
      <p:sp>
        <p:nvSpPr>
          <p:cNvPr id="22" name="Shape 20"/>
          <p:cNvSpPr/>
          <p:nvPr/>
        </p:nvSpPr>
        <p:spPr>
          <a:xfrm>
            <a:off x="9491472" y="2086478"/>
            <a:ext cx="2011680" cy="1896237"/>
          </a:xfrm>
          <a:prstGeom prst="roundRect">
            <a:avLst>
              <a:gd name="adj" fmla="val 4571"/>
            </a:avLst>
          </a:prstGeom>
          <a:solidFill>
            <a:srgbClr val="FFFFFF"/>
          </a:solidFill>
          <a:ln w="9525">
            <a:solidFill>
              <a:srgbClr val="DCD8D0"/>
            </a:solidFill>
            <a:prstDash val="solid"/>
          </a:ln>
        </p:spPr>
      </p:sp>
      <p:sp>
        <p:nvSpPr>
          <p:cNvPr id="23" name="Text 21"/>
          <p:cNvSpPr txBox="1"/>
          <p:nvPr/>
        </p:nvSpPr>
        <p:spPr>
          <a:xfrm>
            <a:off x="9637776" y="2281519"/>
            <a:ext cx="1719072" cy="541782"/>
          </a:xfrm>
          <a:prstGeom prst="rect">
            <a:avLst/>
          </a:prstGeom>
          <a:noFill/>
          <a:ln/>
        </p:spPr>
        <p:txBody>
          <a:bodyPr wrap="square" lIns="0" tIns="0" rIns="0" bIns="0" rtlCol="0" anchor="ctr"/>
          <a:lstStyle/>
          <a:p>
            <a:pPr algn="ctr" indent="0" marL="0">
              <a:buNone/>
            </a:pPr>
            <a:r>
              <a:rPr lang="en-US" sz="1500" b="1" dirty="0">
                <a:solidFill>
                  <a:srgbClr val="13161A"/>
                </a:solidFill>
                <a:latin typeface="Calibri" pitchFamily="34" charset="0"/>
                <a:ea typeface="Calibri" pitchFamily="34" charset="-122"/>
                <a:cs typeface="Calibri" pitchFamily="34" charset="-120"/>
              </a:rPr>
              <a:t>Bitstream</a:t>
            </a:r>
            <a:endParaRPr lang="en-US" sz="1500" dirty="0"/>
          </a:p>
        </p:txBody>
      </p:sp>
      <p:sp>
        <p:nvSpPr>
          <p:cNvPr id="24" name="Text 22"/>
          <p:cNvSpPr txBox="1"/>
          <p:nvPr/>
        </p:nvSpPr>
        <p:spPr>
          <a:xfrm>
            <a:off x="9637776" y="2823301"/>
            <a:ext cx="1719072" cy="1029386"/>
          </a:xfrm>
          <a:prstGeom prst="rect">
            <a:avLst/>
          </a:prstGeom>
          <a:noFill/>
          <a:ln/>
        </p:spPr>
        <p:txBody>
          <a:bodyPr wrap="square" lIns="0" tIns="0" rIns="0" bIns="0" rtlCol="0" anchor="ctr"/>
          <a:lstStyle/>
          <a:p>
            <a:pPr algn="ctr" indent="0" marL="0">
              <a:buNone/>
            </a:pPr>
            <a:r>
              <a:rPr lang="en-US" sz="1150" dirty="0">
                <a:solidFill>
                  <a:srgbClr val="6A6F78"/>
                </a:solidFill>
                <a:latin typeface="Calibri" pitchFamily="34" charset="0"/>
                <a:ea typeface="Calibri" pitchFamily="34" charset="-122"/>
                <a:cs typeface="Calibri" pitchFamily="34" charset="-120"/>
              </a:rPr>
              <a:t>runs on the board</a:t>
            </a:r>
            <a:endParaRPr lang="en-US" sz="1150" dirty="0"/>
          </a:p>
        </p:txBody>
      </p:sp>
      <p:sp>
        <p:nvSpPr>
          <p:cNvPr id="25" name="Shape 23"/>
          <p:cNvSpPr/>
          <p:nvPr/>
        </p:nvSpPr>
        <p:spPr>
          <a:xfrm>
            <a:off x="1572768" y="4361962"/>
            <a:ext cx="8869680" cy="455097"/>
          </a:xfrm>
          <a:prstGeom prst="roundRect">
            <a:avLst>
              <a:gd name="adj" fmla="val 23810"/>
            </a:avLst>
          </a:prstGeom>
          <a:solidFill>
            <a:srgbClr val="F0E4DA"/>
          </a:solidFill>
          <a:ln w="12700">
            <a:solidFill>
              <a:srgbClr val="F0E4DA"/>
            </a:solidFill>
            <a:prstDash val="solid"/>
          </a:ln>
        </p:spPr>
      </p:sp>
      <p:sp>
        <p:nvSpPr>
          <p:cNvPr id="26" name="Text 24"/>
          <p:cNvSpPr txBox="1"/>
          <p:nvPr/>
        </p:nvSpPr>
        <p:spPr>
          <a:xfrm>
            <a:off x="1572768" y="4361962"/>
            <a:ext cx="8869680" cy="455097"/>
          </a:xfrm>
          <a:prstGeom prst="rect">
            <a:avLst/>
          </a:prstGeom>
          <a:noFill/>
          <a:ln/>
        </p:spPr>
        <p:txBody>
          <a:bodyPr wrap="square" lIns="0" tIns="0" rIns="0" bIns="0" rtlCol="0" anchor="ctr"/>
          <a:lstStyle/>
          <a:p>
            <a:pPr algn="ctr" indent="0" marL="0">
              <a:buNone/>
            </a:pPr>
            <a:r>
              <a:rPr lang="en-US" sz="1350" i="1" dirty="0">
                <a:solidFill>
                  <a:srgbClr val="C2410C"/>
                </a:solidFill>
                <a:latin typeface="Calibri" pitchFamily="34" charset="0"/>
                <a:ea typeface="Calibri" pitchFamily="34" charset="-122"/>
                <a:cs typeface="Calibri" pitchFamily="34" charset="-120"/>
              </a:rPr>
              <a:t>Any tool failure is parsed and fed back to the agent, which revises and retries</a:t>
            </a:r>
            <a:endParaRPr lang="en-US" sz="1350" dirty="0"/>
          </a:p>
        </p:txBody>
      </p:sp>
      <p:sp>
        <p:nvSpPr>
          <p:cNvPr id="27" name="Text 25"/>
          <p:cNvSpPr txBox="1"/>
          <p:nvPr/>
        </p:nvSpPr>
        <p:spPr>
          <a:xfrm>
            <a:off x="566928" y="5174635"/>
            <a:ext cx="11055096" cy="541782"/>
          </a:xfrm>
          <a:prstGeom prst="rect">
            <a:avLst/>
          </a:prstGeom>
          <a:noFill/>
          <a:ln/>
        </p:spPr>
        <p:txBody>
          <a:bodyPr wrap="square" lIns="0" tIns="0" rIns="0" bIns="0" rtlCol="0" anchor="ctr"/>
          <a:lstStyle/>
          <a:p>
            <a:pPr indent="0" marL="0">
              <a:buNone/>
            </a:pPr>
            <a:r>
              <a:rPr lang="en-US" sz="1600" dirty="0">
                <a:solidFill>
                  <a:srgbClr val="13161A"/>
                </a:solidFill>
                <a:latin typeface="Calibri" pitchFamily="34" charset="0"/>
                <a:ea typeface="Calibri" pitchFamily="34" charset="-122"/>
                <a:cs typeface="Calibri" pitchFamily="34" charset="-120"/>
              </a:rPr>
              <a:t>A sizing layer then says how many boards the model needs, and checks that answer packet by packet before anything is bought.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566928" y="384048"/>
            <a:ext cx="329184" cy="329184"/>
          </a:xfrm>
          <a:prstGeom prst="roundRect">
            <a:avLst>
              <a:gd name="adj" fmla="val 16667"/>
            </a:avLst>
          </a:prstGeom>
          <a:solidFill>
            <a:srgbClr val="C2410C"/>
          </a:solidFill>
          <a:ln w="12700">
            <a:solidFill>
              <a:srgbClr val="C2410C"/>
            </a:solidFill>
            <a:prstDash val="solid"/>
          </a:ln>
        </p:spPr>
      </p:sp>
      <p:sp>
        <p:nvSpPr>
          <p:cNvPr id="3" name="Text 1"/>
          <p:cNvSpPr txBox="1"/>
          <p:nvPr/>
        </p:nvSpPr>
        <p:spPr>
          <a:xfrm>
            <a:off x="566928" y="3840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4" name="Text 2"/>
          <p:cNvSpPr txBox="1"/>
          <p:nvPr/>
        </p:nvSpPr>
        <p:spPr>
          <a:xfrm>
            <a:off x="1042416" y="310896"/>
            <a:ext cx="10579608" cy="512064"/>
          </a:xfrm>
          <a:prstGeom prst="rect">
            <a:avLst/>
          </a:prstGeom>
          <a:noFill/>
          <a:ln/>
        </p:spPr>
        <p:txBody>
          <a:bodyPr wrap="square" lIns="0" tIns="0" rIns="0" bIns="0" rtlCol="0" anchor="ctr"/>
          <a:lstStyle/>
          <a:p>
            <a:pPr indent="0" marL="0">
              <a:buNone/>
            </a:pPr>
            <a:r>
              <a:rPr lang="en-US" sz="3200" b="1" dirty="0">
                <a:solidFill>
                  <a:srgbClr val="13161A"/>
                </a:solidFill>
                <a:latin typeface="Calibri" pitchFamily="34" charset="0"/>
                <a:ea typeface="Calibri" pitchFamily="34" charset="-122"/>
                <a:cs typeface="Calibri" pitchFamily="34" charset="-120"/>
              </a:rPr>
              <a:t>The hardware is derived, not guessed</a:t>
            </a:r>
            <a:endParaRPr lang="en-US" sz="3200" dirty="0"/>
          </a:p>
        </p:txBody>
      </p:sp>
      <p:sp>
        <p:nvSpPr>
          <p:cNvPr id="5" name="Text 3"/>
          <p:cNvSpPr txBox="1"/>
          <p:nvPr/>
        </p:nvSpPr>
        <p:spPr>
          <a:xfrm>
            <a:off x="566928" y="1371600"/>
            <a:ext cx="11055096" cy="365760"/>
          </a:xfrm>
          <a:prstGeom prst="rect">
            <a:avLst/>
          </a:prstGeom>
          <a:noFill/>
          <a:ln/>
        </p:spPr>
        <p:txBody>
          <a:bodyPr wrap="square" lIns="0" tIns="0" rIns="0" bIns="0" rtlCol="0" anchor="ctr"/>
          <a:lstStyle/>
          <a:p>
            <a:pPr indent="0" marL="0">
              <a:buNone/>
            </a:pPr>
            <a:r>
              <a:rPr lang="en-US" sz="1600" dirty="0">
                <a:solidFill>
                  <a:srgbClr val="6A6F78"/>
                </a:solidFill>
                <a:latin typeface="Calibri" pitchFamily="34" charset="0"/>
                <a:ea typeface="Calibri" pitchFamily="34" charset="-122"/>
                <a:cs typeface="Calibri" pitchFamily="34" charset="-120"/>
              </a:rPr>
              <a:t>The model tells us the arithmetic it needs. We compute the datapath from it.</a:t>
            </a:r>
            <a:endParaRPr lang="en-US" sz="1600" dirty="0"/>
          </a:p>
        </p:txBody>
      </p:sp>
      <p:sp>
        <p:nvSpPr>
          <p:cNvPr id="6" name="Shape 4"/>
          <p:cNvSpPr/>
          <p:nvPr/>
        </p:nvSpPr>
        <p:spPr>
          <a:xfrm>
            <a:off x="566928" y="2140656"/>
            <a:ext cx="6766560" cy="2546375"/>
          </a:xfrm>
          <a:prstGeom prst="roundRect">
            <a:avLst>
              <a:gd name="adj" fmla="val 3404"/>
            </a:avLst>
          </a:prstGeom>
          <a:solidFill>
            <a:srgbClr val="FFFFFF"/>
          </a:solidFill>
          <a:ln w="9525">
            <a:solidFill>
              <a:srgbClr val="DCD8D0"/>
            </a:solidFill>
            <a:prstDash val="solid"/>
          </a:ln>
        </p:spPr>
      </p:sp>
      <p:sp>
        <p:nvSpPr>
          <p:cNvPr id="7" name="Text 5"/>
          <p:cNvSpPr txBox="1"/>
          <p:nvPr/>
        </p:nvSpPr>
        <p:spPr>
          <a:xfrm>
            <a:off x="841248" y="2411547"/>
            <a:ext cx="6217920" cy="671810"/>
          </a:xfrm>
          <a:prstGeom prst="rect">
            <a:avLst/>
          </a:prstGeom>
          <a:noFill/>
          <a:ln/>
        </p:spPr>
        <p:txBody>
          <a:bodyPr wrap="square" lIns="0" tIns="0" rIns="0" bIns="0" rtlCol="0" anchor="ctr"/>
          <a:lstStyle/>
          <a:p>
            <a:pPr indent="0" marL="0">
              <a:buNone/>
            </a:pPr>
            <a:r>
              <a:rPr lang="en-US" sz="1400" b="1" dirty="0">
                <a:solidFill>
                  <a:srgbClr val="C2410C"/>
                </a:solidFill>
                <a:latin typeface="Courier New" pitchFamily="34" charset="0"/>
                <a:ea typeface="Courier New" pitchFamily="34" charset="-122"/>
                <a:cs typeface="Courier New" pitchFamily="34" charset="-120"/>
              </a:rPr>
              <a:t>accumulator = weight bits + activation bits + ceil(log2(deepest reduction))</a:t>
            </a:r>
            <a:endParaRPr lang="en-US" sz="1400" dirty="0"/>
          </a:p>
        </p:txBody>
      </p:sp>
      <p:sp>
        <p:nvSpPr>
          <p:cNvPr id="8" name="Text 6"/>
          <p:cNvSpPr txBox="1"/>
          <p:nvPr/>
        </p:nvSpPr>
        <p:spPr>
          <a:xfrm>
            <a:off x="841248" y="3170042"/>
            <a:ext cx="6217920" cy="1300277"/>
          </a:xfrm>
          <a:prstGeom prst="rect">
            <a:avLst/>
          </a:prstGeom>
          <a:noFill/>
          <a:ln/>
        </p:spPr>
        <p:txBody>
          <a:bodyPr wrap="square" lIns="0" tIns="0" rIns="0" bIns="0" rtlCol="0" anchor="ctr"/>
          <a:lstStyle/>
          <a:p>
            <a:pPr indent="0" marL="0">
              <a:buNone/>
            </a:pPr>
            <a:r>
              <a:rPr lang="en-US" sz="1450" dirty="0">
                <a:solidFill>
                  <a:srgbClr val="13161A"/>
                </a:solidFill>
                <a:latin typeface="Calibri" pitchFamily="34" charset="0"/>
                <a:ea typeface="Calibri" pitchFamily="34" charset="-122"/>
                <a:cs typeface="Calibri" pitchFamily="34" charset="-120"/>
              </a:rPr>
              <a:t>For Qwen3-0.6B that is 8 + 8 + 12 = 28 bits. Wide enough that overflow is mathematically impossible, and not one bit wider. Re-quantize the model to 4 bits and the pipeline emits a smaller design automatically.</a:t>
            </a:r>
            <a:endParaRPr lang="en-US" sz="1450" dirty="0"/>
          </a:p>
        </p:txBody>
      </p:sp>
      <p:sp>
        <p:nvSpPr>
          <p:cNvPr id="9" name="Shape 7"/>
          <p:cNvSpPr/>
          <p:nvPr/>
        </p:nvSpPr>
        <p:spPr>
          <a:xfrm>
            <a:off x="7653528" y="2140656"/>
            <a:ext cx="3968496" cy="2546375"/>
          </a:xfrm>
          <a:prstGeom prst="roundRect">
            <a:avLst>
              <a:gd name="adj" fmla="val 3404"/>
            </a:avLst>
          </a:prstGeom>
          <a:solidFill>
            <a:srgbClr val="F0E4DA"/>
          </a:solidFill>
          <a:ln w="9525">
            <a:solidFill>
              <a:srgbClr val="DCD8D0"/>
            </a:solidFill>
            <a:prstDash val="solid"/>
          </a:ln>
        </p:spPr>
      </p:sp>
      <p:sp>
        <p:nvSpPr>
          <p:cNvPr id="10" name="Text 8"/>
          <p:cNvSpPr txBox="1"/>
          <p:nvPr/>
        </p:nvSpPr>
        <p:spPr>
          <a:xfrm>
            <a:off x="7927848" y="2389876"/>
            <a:ext cx="3419856" cy="390083"/>
          </a:xfrm>
          <a:prstGeom prst="rect">
            <a:avLst/>
          </a:prstGeom>
          <a:noFill/>
          <a:ln/>
        </p:spPr>
        <p:txBody>
          <a:bodyPr wrap="square" lIns="0" tIns="0" rIns="0" bIns="0" rtlCol="0" anchor="ctr"/>
          <a:lstStyle/>
          <a:p>
            <a:pPr indent="0" marL="0">
              <a:buNone/>
            </a:pPr>
            <a:r>
              <a:rPr lang="en-US" sz="1600" b="1" dirty="0">
                <a:solidFill>
                  <a:srgbClr val="C2410C"/>
                </a:solidFill>
                <a:latin typeface="Calibri" pitchFamily="34" charset="0"/>
                <a:ea typeface="Calibri" pitchFamily="34" charset="-122"/>
                <a:cs typeface="Calibri" pitchFamily="34" charset="-120"/>
              </a:rPr>
              <a:t>The endpoint too</a:t>
            </a:r>
            <a:endParaRPr lang="en-US" sz="1600" dirty="0"/>
          </a:p>
        </p:txBody>
      </p:sp>
      <p:sp>
        <p:nvSpPr>
          <p:cNvPr id="11" name="Text 9"/>
          <p:cNvSpPr txBox="1"/>
          <p:nvPr/>
        </p:nvSpPr>
        <p:spPr>
          <a:xfrm>
            <a:off x="7927848" y="2866644"/>
            <a:ext cx="3419856" cy="1625346"/>
          </a:xfrm>
          <a:prstGeom prst="rect">
            <a:avLst/>
          </a:prstGeom>
          <a:noFill/>
          <a:ln/>
        </p:spPr>
        <p:txBody>
          <a:bodyPr wrap="square" lIns="0" tIns="0" rIns="0" bIns="0" rtlCol="0" anchor="ctr"/>
          <a:lstStyle/>
          <a:p>
            <a:pPr indent="0" marL="0">
              <a:buNone/>
            </a:pPr>
            <a:r>
              <a:rPr lang="en-US" sz="1350" dirty="0">
                <a:solidFill>
                  <a:srgbClr val="13161A"/>
                </a:solidFill>
                <a:latin typeface="Calibri" pitchFamily="34" charset="0"/>
                <a:ea typeface="Calibri" pitchFamily="34" charset="-122"/>
                <a:cs typeface="Calibri" pitchFamily="34" charset="-120"/>
              </a:rPr>
              <a:t>The link width is derived from the wire speed. When the obvious datapath missed timing by 0.02 ns, the flow widened it, halved the clock, reran the whole loop and signed off with 1.1 ns spare.</a:t>
            </a:r>
            <a:endParaRPr lang="en-US" sz="1350" dirty="0"/>
          </a:p>
        </p:txBody>
      </p:sp>
      <p:sp>
        <p:nvSpPr>
          <p:cNvPr id="12" name="Text 10"/>
          <p:cNvSpPr txBox="1"/>
          <p:nvPr/>
        </p:nvSpPr>
        <p:spPr>
          <a:xfrm>
            <a:off x="566928" y="4925416"/>
            <a:ext cx="11055096" cy="487604"/>
          </a:xfrm>
          <a:prstGeom prst="rect">
            <a:avLst/>
          </a:prstGeom>
          <a:noFill/>
          <a:ln/>
        </p:spPr>
        <p:txBody>
          <a:bodyPr wrap="square" lIns="0" tIns="0" rIns="0" bIns="0" rtlCol="0" anchor="ctr"/>
          <a:lstStyle/>
          <a:p>
            <a:pPr indent="0" marL="0">
              <a:buNone/>
            </a:pPr>
            <a:r>
              <a:rPr lang="en-US" sz="1700" b="1" dirty="0">
                <a:solidFill>
                  <a:srgbClr val="13161A"/>
                </a:solidFill>
                <a:latin typeface="Calibri" pitchFamily="34" charset="0"/>
                <a:ea typeface="Calibri" pitchFamily="34" charset="-122"/>
                <a:cs typeface="Calibri" pitchFamily="34" charset="-120"/>
              </a:rPr>
              <a:t>That last one matters: the system changed what it was building, not just how it was written.</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566928" y="384048"/>
            <a:ext cx="329184" cy="329184"/>
          </a:xfrm>
          <a:prstGeom prst="roundRect">
            <a:avLst>
              <a:gd name="adj" fmla="val 16667"/>
            </a:avLst>
          </a:prstGeom>
          <a:solidFill>
            <a:srgbClr val="C2410C"/>
          </a:solidFill>
          <a:ln w="12700">
            <a:solidFill>
              <a:srgbClr val="C2410C"/>
            </a:solidFill>
            <a:prstDash val="solid"/>
          </a:ln>
        </p:spPr>
      </p:sp>
      <p:sp>
        <p:nvSpPr>
          <p:cNvPr id="3" name="Text 1"/>
          <p:cNvSpPr txBox="1"/>
          <p:nvPr/>
        </p:nvSpPr>
        <p:spPr>
          <a:xfrm>
            <a:off x="566928" y="3840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4" name="Text 2"/>
          <p:cNvSpPr txBox="1"/>
          <p:nvPr/>
        </p:nvSpPr>
        <p:spPr>
          <a:xfrm>
            <a:off x="1042416" y="310896"/>
            <a:ext cx="10579608" cy="512064"/>
          </a:xfrm>
          <a:prstGeom prst="rect">
            <a:avLst/>
          </a:prstGeom>
          <a:noFill/>
          <a:ln/>
        </p:spPr>
        <p:txBody>
          <a:bodyPr wrap="square" lIns="0" tIns="0" rIns="0" bIns="0" rtlCol="0" anchor="ctr"/>
          <a:lstStyle/>
          <a:p>
            <a:pPr indent="0" marL="0">
              <a:buNone/>
            </a:pPr>
            <a:r>
              <a:rPr lang="en-US" sz="3200" b="1" dirty="0">
                <a:solidFill>
                  <a:srgbClr val="13161A"/>
                </a:solidFill>
                <a:latin typeface="Calibri" pitchFamily="34" charset="0"/>
                <a:ea typeface="Calibri" pitchFamily="34" charset="-122"/>
                <a:cs typeface="Calibri" pitchFamily="34" charset="-120"/>
              </a:rPr>
              <a:t>The loop catching its own mistake</a:t>
            </a:r>
            <a:endParaRPr lang="en-US" sz="3200" dirty="0"/>
          </a:p>
        </p:txBody>
      </p:sp>
      <p:sp>
        <p:nvSpPr>
          <p:cNvPr id="5" name="Text 3"/>
          <p:cNvSpPr txBox="1"/>
          <p:nvPr/>
        </p:nvSpPr>
        <p:spPr>
          <a:xfrm>
            <a:off x="1042416" y="841248"/>
            <a:ext cx="10579608" cy="329184"/>
          </a:xfrm>
          <a:prstGeom prst="rect">
            <a:avLst/>
          </a:prstGeom>
          <a:noFill/>
          <a:ln/>
        </p:spPr>
        <p:txBody>
          <a:bodyPr wrap="square" lIns="0" tIns="0" rIns="0" bIns="0" rtlCol="0" anchor="ctr"/>
          <a:lstStyle/>
          <a:p>
            <a:pPr indent="0" marL="0">
              <a:buNone/>
            </a:pPr>
            <a:r>
              <a:rPr lang="en-US" sz="1400" dirty="0">
                <a:solidFill>
                  <a:srgbClr val="6A6F78"/>
                </a:solidFill>
                <a:latin typeface="Calibri" pitchFamily="34" charset="0"/>
                <a:ea typeface="Calibri" pitchFamily="34" charset="-122"/>
                <a:cs typeface="Calibri" pitchFamily="34" charset="-120"/>
              </a:rPr>
              <a:t>Real output from the compute block. Three iterations, 2.7 seconds.</a:t>
            </a:r>
            <a:endParaRPr lang="en-US" sz="1400" dirty="0"/>
          </a:p>
        </p:txBody>
      </p:sp>
      <p:sp>
        <p:nvSpPr>
          <p:cNvPr id="6" name="Text 4"/>
          <p:cNvSpPr txBox="1"/>
          <p:nvPr/>
        </p:nvSpPr>
        <p:spPr>
          <a:xfrm>
            <a:off x="795528" y="2032300"/>
            <a:ext cx="457200" cy="325069"/>
          </a:xfrm>
          <a:prstGeom prst="rect">
            <a:avLst/>
          </a:prstGeom>
          <a:noFill/>
          <a:ln/>
        </p:spPr>
        <p:txBody>
          <a:bodyPr wrap="square" lIns="0" tIns="0" rIns="0" bIns="0" rtlCol="0" anchor="ctr"/>
          <a:lstStyle/>
          <a:p>
            <a:pPr indent="0" marL="0">
              <a:buNone/>
            </a:pPr>
            <a:r>
              <a:rPr lang="en-US" sz="1150" b="1" dirty="0">
                <a:solidFill>
                  <a:srgbClr val="6A6F78"/>
                </a:solidFill>
                <a:latin typeface="Calibri" pitchFamily="34" charset="0"/>
                <a:ea typeface="Calibri" pitchFamily="34" charset="-122"/>
                <a:cs typeface="Calibri" pitchFamily="34" charset="-120"/>
              </a:rPr>
              <a:t>iter</a:t>
            </a:r>
            <a:endParaRPr lang="en-US" sz="1150" dirty="0"/>
          </a:p>
        </p:txBody>
      </p:sp>
      <p:sp>
        <p:nvSpPr>
          <p:cNvPr id="7" name="Text 5"/>
          <p:cNvSpPr txBox="1"/>
          <p:nvPr/>
        </p:nvSpPr>
        <p:spPr>
          <a:xfrm>
            <a:off x="1435608" y="2032300"/>
            <a:ext cx="2743200" cy="325069"/>
          </a:xfrm>
          <a:prstGeom prst="rect">
            <a:avLst/>
          </a:prstGeom>
          <a:noFill/>
          <a:ln/>
        </p:spPr>
        <p:txBody>
          <a:bodyPr wrap="square" lIns="0" tIns="0" rIns="0" bIns="0" rtlCol="0" anchor="ctr"/>
          <a:lstStyle/>
          <a:p>
            <a:pPr indent="0" marL="0">
              <a:buNone/>
            </a:pPr>
            <a:r>
              <a:rPr lang="en-US" sz="1150" b="1" dirty="0">
                <a:solidFill>
                  <a:srgbClr val="6A6F78"/>
                </a:solidFill>
                <a:latin typeface="Calibri" pitchFamily="34" charset="0"/>
                <a:ea typeface="Calibri" pitchFamily="34" charset="-122"/>
                <a:cs typeface="Calibri" pitchFamily="34" charset="-120"/>
              </a:rPr>
              <a:t>agent applied</a:t>
            </a:r>
            <a:endParaRPr lang="en-US" sz="1150" dirty="0"/>
          </a:p>
        </p:txBody>
      </p:sp>
      <p:sp>
        <p:nvSpPr>
          <p:cNvPr id="8" name="Text 6"/>
          <p:cNvSpPr txBox="1"/>
          <p:nvPr/>
        </p:nvSpPr>
        <p:spPr>
          <a:xfrm>
            <a:off x="4407408" y="2032300"/>
            <a:ext cx="6766560" cy="325069"/>
          </a:xfrm>
          <a:prstGeom prst="rect">
            <a:avLst/>
          </a:prstGeom>
          <a:noFill/>
          <a:ln/>
        </p:spPr>
        <p:txBody>
          <a:bodyPr wrap="square" lIns="0" tIns="0" rIns="0" bIns="0" rtlCol="0" anchor="ctr"/>
          <a:lstStyle/>
          <a:p>
            <a:pPr indent="0" marL="0">
              <a:buNone/>
            </a:pPr>
            <a:r>
              <a:rPr lang="en-US" sz="1150" b="1" dirty="0">
                <a:solidFill>
                  <a:srgbClr val="6A6F78"/>
                </a:solidFill>
                <a:latin typeface="Calibri" pitchFamily="34" charset="0"/>
                <a:ea typeface="Calibri" pitchFamily="34" charset="-122"/>
                <a:cs typeface="Calibri" pitchFamily="34" charset="-120"/>
              </a:rPr>
              <a:t>tool result</a:t>
            </a:r>
            <a:endParaRPr lang="en-US" sz="1150" dirty="0"/>
          </a:p>
        </p:txBody>
      </p:sp>
      <p:sp>
        <p:nvSpPr>
          <p:cNvPr id="9" name="Shape 7"/>
          <p:cNvSpPr/>
          <p:nvPr/>
        </p:nvSpPr>
        <p:spPr>
          <a:xfrm>
            <a:off x="566928" y="2465725"/>
            <a:ext cx="11055096" cy="671810"/>
          </a:xfrm>
          <a:prstGeom prst="roundRect">
            <a:avLst>
              <a:gd name="adj" fmla="val 12903"/>
            </a:avLst>
          </a:prstGeom>
          <a:solidFill>
            <a:srgbClr val="FFFFFF"/>
          </a:solidFill>
          <a:ln w="9525">
            <a:solidFill>
              <a:srgbClr val="DCD8D0"/>
            </a:solidFill>
            <a:prstDash val="solid"/>
          </a:ln>
        </p:spPr>
      </p:sp>
      <p:sp>
        <p:nvSpPr>
          <p:cNvPr id="10" name="Text 8"/>
          <p:cNvSpPr txBox="1"/>
          <p:nvPr/>
        </p:nvSpPr>
        <p:spPr>
          <a:xfrm>
            <a:off x="795528" y="2465725"/>
            <a:ext cx="457200" cy="671810"/>
          </a:xfrm>
          <a:prstGeom prst="rect">
            <a:avLst/>
          </a:prstGeom>
          <a:noFill/>
          <a:ln/>
        </p:spPr>
        <p:txBody>
          <a:bodyPr wrap="square" lIns="0" tIns="0" rIns="0" bIns="0" rtlCol="0" anchor="ctr"/>
          <a:lstStyle/>
          <a:p>
            <a:pPr indent="0" marL="0">
              <a:buNone/>
            </a:pPr>
            <a:r>
              <a:rPr lang="en-US" sz="1400" b="1" dirty="0">
                <a:solidFill>
                  <a:srgbClr val="C2410C"/>
                </a:solidFill>
                <a:latin typeface="Courier New" pitchFamily="34" charset="0"/>
                <a:ea typeface="Courier New" pitchFamily="34" charset="-122"/>
                <a:cs typeface="Courier New" pitchFamily="34" charset="-120"/>
              </a:rPr>
              <a:t>1</a:t>
            </a:r>
            <a:endParaRPr lang="en-US" sz="1400" dirty="0"/>
          </a:p>
        </p:txBody>
      </p:sp>
      <p:sp>
        <p:nvSpPr>
          <p:cNvPr id="11" name="Text 9"/>
          <p:cNvSpPr txBox="1"/>
          <p:nvPr/>
        </p:nvSpPr>
        <p:spPr>
          <a:xfrm>
            <a:off x="1435608" y="2465725"/>
            <a:ext cx="2834640" cy="671810"/>
          </a:xfrm>
          <a:prstGeom prst="rect">
            <a:avLst/>
          </a:prstGeom>
          <a:noFill/>
          <a:ln/>
        </p:spPr>
        <p:txBody>
          <a:bodyPr wrap="square" lIns="0" tIns="0" rIns="0" bIns="0" rtlCol="0" anchor="ctr"/>
          <a:lstStyle/>
          <a:p>
            <a:pPr indent="0" marL="0">
              <a:buNone/>
            </a:pPr>
            <a:r>
              <a:rPr lang="en-US" sz="1300" dirty="0">
                <a:solidFill>
                  <a:srgbClr val="13161A"/>
                </a:solidFill>
                <a:latin typeface="Calibri" pitchFamily="34" charset="0"/>
                <a:ea typeface="Calibri" pitchFamily="34" charset="-122"/>
                <a:cs typeface="Calibri" pitchFamily="34" charset="-120"/>
              </a:rPr>
              <a:t>none</a:t>
            </a:r>
            <a:endParaRPr lang="en-US" sz="1300" dirty="0"/>
          </a:p>
        </p:txBody>
      </p:sp>
      <p:sp>
        <p:nvSpPr>
          <p:cNvPr id="12" name="Text 10"/>
          <p:cNvSpPr txBox="1"/>
          <p:nvPr/>
        </p:nvSpPr>
        <p:spPr>
          <a:xfrm>
            <a:off x="4407408" y="2465725"/>
            <a:ext cx="6858000" cy="671810"/>
          </a:xfrm>
          <a:prstGeom prst="rect">
            <a:avLst/>
          </a:prstGeom>
          <a:noFill/>
          <a:ln/>
        </p:spPr>
        <p:txBody>
          <a:bodyPr wrap="square" lIns="0" tIns="0" rIns="0" bIns="0" rtlCol="0" anchor="ctr"/>
          <a:lstStyle/>
          <a:p>
            <a:pPr indent="0" marL="0">
              <a:buNone/>
            </a:pPr>
            <a:r>
              <a:rPr lang="en-US" sz="1250" dirty="0">
                <a:solidFill>
                  <a:srgbClr val="13161A"/>
                </a:solidFill>
                <a:latin typeface="Courier New" pitchFamily="34" charset="0"/>
                <a:ea typeface="Courier New" pitchFamily="34" charset="-122"/>
                <a:cs typeface="Courier New" pitchFamily="34" charset="-120"/>
              </a:rPr>
              <a:t>FAIL  wide_product: expected 65328, got 304</a:t>
            </a:r>
            <a:endParaRPr lang="en-US" sz="1250" dirty="0"/>
          </a:p>
        </p:txBody>
      </p:sp>
      <p:sp>
        <p:nvSpPr>
          <p:cNvPr id="13" name="Shape 11"/>
          <p:cNvSpPr/>
          <p:nvPr/>
        </p:nvSpPr>
        <p:spPr>
          <a:xfrm>
            <a:off x="566928" y="3245891"/>
            <a:ext cx="11055096" cy="671810"/>
          </a:xfrm>
          <a:prstGeom prst="roundRect">
            <a:avLst>
              <a:gd name="adj" fmla="val 12903"/>
            </a:avLst>
          </a:prstGeom>
          <a:solidFill>
            <a:srgbClr val="FFFFFF"/>
          </a:solidFill>
          <a:ln w="9525">
            <a:solidFill>
              <a:srgbClr val="DCD8D0"/>
            </a:solidFill>
            <a:prstDash val="solid"/>
          </a:ln>
        </p:spPr>
      </p:sp>
      <p:sp>
        <p:nvSpPr>
          <p:cNvPr id="14" name="Text 12"/>
          <p:cNvSpPr txBox="1"/>
          <p:nvPr/>
        </p:nvSpPr>
        <p:spPr>
          <a:xfrm>
            <a:off x="795528" y="3245891"/>
            <a:ext cx="457200" cy="671810"/>
          </a:xfrm>
          <a:prstGeom prst="rect">
            <a:avLst/>
          </a:prstGeom>
          <a:noFill/>
          <a:ln/>
        </p:spPr>
        <p:txBody>
          <a:bodyPr wrap="square" lIns="0" tIns="0" rIns="0" bIns="0" rtlCol="0" anchor="ctr"/>
          <a:lstStyle/>
          <a:p>
            <a:pPr indent="0" marL="0">
              <a:buNone/>
            </a:pPr>
            <a:r>
              <a:rPr lang="en-US" sz="1400" b="1" dirty="0">
                <a:solidFill>
                  <a:srgbClr val="C2410C"/>
                </a:solidFill>
                <a:latin typeface="Courier New" pitchFamily="34" charset="0"/>
                <a:ea typeface="Courier New" pitchFamily="34" charset="-122"/>
                <a:cs typeface="Courier New" pitchFamily="34" charset="-120"/>
              </a:rPr>
              <a:t>2</a:t>
            </a:r>
            <a:endParaRPr lang="en-US" sz="1400" dirty="0"/>
          </a:p>
        </p:txBody>
      </p:sp>
      <p:sp>
        <p:nvSpPr>
          <p:cNvPr id="15" name="Text 13"/>
          <p:cNvSpPr txBox="1"/>
          <p:nvPr/>
        </p:nvSpPr>
        <p:spPr>
          <a:xfrm>
            <a:off x="1435608" y="3245891"/>
            <a:ext cx="2834640" cy="671810"/>
          </a:xfrm>
          <a:prstGeom prst="rect">
            <a:avLst/>
          </a:prstGeom>
          <a:noFill/>
          <a:ln/>
        </p:spPr>
        <p:txBody>
          <a:bodyPr wrap="square" lIns="0" tIns="0" rIns="0" bIns="0" rtlCol="0" anchor="ctr"/>
          <a:lstStyle/>
          <a:p>
            <a:pPr indent="0" marL="0">
              <a:buNone/>
            </a:pPr>
            <a:r>
              <a:rPr lang="en-US" sz="1300" dirty="0">
                <a:solidFill>
                  <a:srgbClr val="13161A"/>
                </a:solidFill>
                <a:latin typeface="Calibri" pitchFamily="34" charset="0"/>
                <a:ea typeface="Calibri" pitchFamily="34" charset="-122"/>
                <a:cs typeface="Calibri" pitchFamily="34" charset="-120"/>
              </a:rPr>
              <a:t>widen product register</a:t>
            </a:r>
            <a:endParaRPr lang="en-US" sz="1300" dirty="0"/>
          </a:p>
        </p:txBody>
      </p:sp>
      <p:sp>
        <p:nvSpPr>
          <p:cNvPr id="16" name="Text 14"/>
          <p:cNvSpPr txBox="1"/>
          <p:nvPr/>
        </p:nvSpPr>
        <p:spPr>
          <a:xfrm>
            <a:off x="4407408" y="3245891"/>
            <a:ext cx="6858000" cy="671810"/>
          </a:xfrm>
          <a:prstGeom prst="rect">
            <a:avLst/>
          </a:prstGeom>
          <a:noFill/>
          <a:ln/>
        </p:spPr>
        <p:txBody>
          <a:bodyPr wrap="square" lIns="0" tIns="0" rIns="0" bIns="0" rtlCol="0" anchor="ctr"/>
          <a:lstStyle/>
          <a:p>
            <a:pPr indent="0" marL="0">
              <a:buNone/>
            </a:pPr>
            <a:r>
              <a:rPr lang="en-US" sz="1250" dirty="0">
                <a:solidFill>
                  <a:srgbClr val="13161A"/>
                </a:solidFill>
                <a:latin typeface="Courier New" pitchFamily="34" charset="0"/>
                <a:ea typeface="Courier New" pitchFamily="34" charset="-122"/>
                <a:cs typeface="Courier New" pitchFamily="34" charset="-120"/>
              </a:rPr>
              <a:t>FAIL  sync_clear: expected 0, got 129845</a:t>
            </a:r>
            <a:endParaRPr lang="en-US" sz="1250" dirty="0"/>
          </a:p>
        </p:txBody>
      </p:sp>
      <p:sp>
        <p:nvSpPr>
          <p:cNvPr id="17" name="Shape 15"/>
          <p:cNvSpPr/>
          <p:nvPr/>
        </p:nvSpPr>
        <p:spPr>
          <a:xfrm>
            <a:off x="566928" y="4026057"/>
            <a:ext cx="11055096" cy="671810"/>
          </a:xfrm>
          <a:prstGeom prst="roundRect">
            <a:avLst>
              <a:gd name="adj" fmla="val 12903"/>
            </a:avLst>
          </a:prstGeom>
          <a:solidFill>
            <a:srgbClr val="E8F0EC"/>
          </a:solidFill>
          <a:ln w="9525">
            <a:solidFill>
              <a:srgbClr val="DCD8D0"/>
            </a:solidFill>
            <a:prstDash val="solid"/>
          </a:ln>
        </p:spPr>
      </p:sp>
      <p:sp>
        <p:nvSpPr>
          <p:cNvPr id="18" name="Text 16"/>
          <p:cNvSpPr txBox="1"/>
          <p:nvPr/>
        </p:nvSpPr>
        <p:spPr>
          <a:xfrm>
            <a:off x="795528" y="4026057"/>
            <a:ext cx="457200" cy="671810"/>
          </a:xfrm>
          <a:prstGeom prst="rect">
            <a:avLst/>
          </a:prstGeom>
          <a:noFill/>
          <a:ln/>
        </p:spPr>
        <p:txBody>
          <a:bodyPr wrap="square" lIns="0" tIns="0" rIns="0" bIns="0" rtlCol="0" anchor="ctr"/>
          <a:lstStyle/>
          <a:p>
            <a:pPr indent="0" marL="0">
              <a:buNone/>
            </a:pPr>
            <a:r>
              <a:rPr lang="en-US" sz="1400" b="1" dirty="0">
                <a:solidFill>
                  <a:srgbClr val="C2410C"/>
                </a:solidFill>
                <a:latin typeface="Courier New" pitchFamily="34" charset="0"/>
                <a:ea typeface="Courier New" pitchFamily="34" charset="-122"/>
                <a:cs typeface="Courier New" pitchFamily="34" charset="-120"/>
              </a:rPr>
              <a:t>3</a:t>
            </a:r>
            <a:endParaRPr lang="en-US" sz="1400" dirty="0"/>
          </a:p>
        </p:txBody>
      </p:sp>
      <p:sp>
        <p:nvSpPr>
          <p:cNvPr id="19" name="Text 17"/>
          <p:cNvSpPr txBox="1"/>
          <p:nvPr/>
        </p:nvSpPr>
        <p:spPr>
          <a:xfrm>
            <a:off x="1435608" y="4026057"/>
            <a:ext cx="2834640" cy="671810"/>
          </a:xfrm>
          <a:prstGeom prst="rect">
            <a:avLst/>
          </a:prstGeom>
          <a:noFill/>
          <a:ln/>
        </p:spPr>
        <p:txBody>
          <a:bodyPr wrap="square" lIns="0" tIns="0" rIns="0" bIns="0" rtlCol="0" anchor="ctr"/>
          <a:lstStyle/>
          <a:p>
            <a:pPr indent="0" marL="0">
              <a:buNone/>
            </a:pPr>
            <a:r>
              <a:rPr lang="en-US" sz="1300" dirty="0">
                <a:solidFill>
                  <a:srgbClr val="13161A"/>
                </a:solidFill>
                <a:latin typeface="Calibri" pitchFamily="34" charset="0"/>
                <a:ea typeface="Calibri" pitchFamily="34" charset="-122"/>
                <a:cs typeface="Calibri" pitchFamily="34" charset="-120"/>
              </a:rPr>
              <a:t>+ implement sync clear</a:t>
            </a:r>
            <a:endParaRPr lang="en-US" sz="1300" dirty="0"/>
          </a:p>
        </p:txBody>
      </p:sp>
      <p:sp>
        <p:nvSpPr>
          <p:cNvPr id="20" name="Text 18"/>
          <p:cNvSpPr txBox="1"/>
          <p:nvPr/>
        </p:nvSpPr>
        <p:spPr>
          <a:xfrm>
            <a:off x="4407408" y="4026057"/>
            <a:ext cx="6858000" cy="671810"/>
          </a:xfrm>
          <a:prstGeom prst="rect">
            <a:avLst/>
          </a:prstGeom>
          <a:noFill/>
          <a:ln/>
        </p:spPr>
        <p:txBody>
          <a:bodyPr wrap="square" lIns="0" tIns="0" rIns="0" bIns="0" rtlCol="0" anchor="ctr"/>
          <a:lstStyle/>
          <a:p>
            <a:pPr indent="0" marL="0">
              <a:buNone/>
            </a:pPr>
            <a:r>
              <a:rPr lang="en-US" sz="1250" dirty="0">
                <a:solidFill>
                  <a:srgbClr val="0F766E"/>
                </a:solidFill>
                <a:latin typeface="Courier New" pitchFamily="34" charset="0"/>
                <a:ea typeface="Courier New" pitchFamily="34" charset="-122"/>
                <a:cs typeface="Courier New" pitchFamily="34" charset="-120"/>
              </a:rPr>
              <a:t>PASS  594 checks, 1052 cells, +4.44 ns slack</a:t>
            </a:r>
            <a:endParaRPr lang="en-US" sz="1250" dirty="0"/>
          </a:p>
        </p:txBody>
      </p:sp>
      <p:sp>
        <p:nvSpPr>
          <p:cNvPr id="21" name="Text 19"/>
          <p:cNvSpPr txBox="1"/>
          <p:nvPr/>
        </p:nvSpPr>
        <p:spPr>
          <a:xfrm>
            <a:off x="566928" y="5033772"/>
            <a:ext cx="11055096" cy="487604"/>
          </a:xfrm>
          <a:prstGeom prst="rect">
            <a:avLst/>
          </a:prstGeom>
          <a:noFill/>
          <a:ln/>
        </p:spPr>
        <p:txBody>
          <a:bodyPr wrap="square" lIns="0" tIns="0" rIns="0" bIns="0" rtlCol="0" anchor="ctr"/>
          <a:lstStyle/>
          <a:p>
            <a:pPr indent="0" marL="0">
              <a:buNone/>
            </a:pPr>
            <a:r>
              <a:rPr lang="en-US" sz="1700" b="1" dirty="0">
                <a:solidFill>
                  <a:srgbClr val="13161A"/>
                </a:solidFill>
                <a:latin typeface="Calibri" pitchFamily="34" charset="0"/>
                <a:ea typeface="Calibri" pitchFamily="34" charset="-122"/>
                <a:cs typeface="Calibri" pitchFamily="34" charset="-120"/>
              </a:rPr>
              <a:t>Nobody told it what was wrong. It read the testbench failure and revised the design.</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566928" y="384048"/>
            <a:ext cx="329184" cy="329184"/>
          </a:xfrm>
          <a:prstGeom prst="roundRect">
            <a:avLst>
              <a:gd name="adj" fmla="val 16667"/>
            </a:avLst>
          </a:prstGeom>
          <a:solidFill>
            <a:srgbClr val="C2410C"/>
          </a:solidFill>
          <a:ln w="12700">
            <a:solidFill>
              <a:srgbClr val="C2410C"/>
            </a:solidFill>
            <a:prstDash val="solid"/>
          </a:ln>
        </p:spPr>
      </p:sp>
      <p:sp>
        <p:nvSpPr>
          <p:cNvPr id="3" name="Text 1"/>
          <p:cNvSpPr txBox="1"/>
          <p:nvPr/>
        </p:nvSpPr>
        <p:spPr>
          <a:xfrm>
            <a:off x="566928" y="3840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4" name="Text 2"/>
          <p:cNvSpPr txBox="1"/>
          <p:nvPr/>
        </p:nvSpPr>
        <p:spPr>
          <a:xfrm>
            <a:off x="1042416" y="310896"/>
            <a:ext cx="10579608" cy="512064"/>
          </a:xfrm>
          <a:prstGeom prst="rect">
            <a:avLst/>
          </a:prstGeom>
          <a:noFill/>
          <a:ln/>
        </p:spPr>
        <p:txBody>
          <a:bodyPr wrap="square" lIns="0" tIns="0" rIns="0" bIns="0" rtlCol="0" anchor="ctr"/>
          <a:lstStyle/>
          <a:p>
            <a:pPr indent="0" marL="0">
              <a:buNone/>
            </a:pPr>
            <a:r>
              <a:rPr lang="en-US" sz="3200" b="1" dirty="0">
                <a:solidFill>
                  <a:srgbClr val="13161A"/>
                </a:solidFill>
                <a:latin typeface="Calibri" pitchFamily="34" charset="0"/>
                <a:ea typeface="Calibri" pitchFamily="34" charset="-122"/>
                <a:cs typeface="Calibri" pitchFamily="34" charset="-120"/>
              </a:rPr>
              <a:t>We size the cluster before buying anything</a:t>
            </a:r>
            <a:endParaRPr lang="en-US" sz="3200" dirty="0"/>
          </a:p>
        </p:txBody>
      </p:sp>
      <p:sp>
        <p:nvSpPr>
          <p:cNvPr id="5" name="Text 3"/>
          <p:cNvSpPr txBox="1"/>
          <p:nvPr/>
        </p:nvSpPr>
        <p:spPr>
          <a:xfrm>
            <a:off x="1042416" y="841248"/>
            <a:ext cx="10579608" cy="329184"/>
          </a:xfrm>
          <a:prstGeom prst="rect">
            <a:avLst/>
          </a:prstGeom>
          <a:noFill/>
          <a:ln/>
        </p:spPr>
        <p:txBody>
          <a:bodyPr wrap="square" lIns="0" tIns="0" rIns="0" bIns="0" rtlCol="0" anchor="ctr"/>
          <a:lstStyle/>
          <a:p>
            <a:pPr indent="0" marL="0">
              <a:buNone/>
            </a:pPr>
            <a:r>
              <a:rPr lang="en-US" sz="1400" dirty="0">
                <a:solidFill>
                  <a:srgbClr val="6A6F78"/>
                </a:solidFill>
                <a:latin typeface="Calibri" pitchFamily="34" charset="0"/>
                <a:ea typeface="Calibri" pitchFamily="34" charset="-122"/>
                <a:cs typeface="Calibri" pitchFamily="34" charset="-120"/>
              </a:rPr>
              <a:t>Qwen3-0.6B on two boards. How much Ethernet do we actually need?</a:t>
            </a:r>
            <a:endParaRPr lang="en-US" sz="1400" dirty="0"/>
          </a:p>
        </p:txBody>
      </p:sp>
      <p:graphicFrame>
        <p:nvGraphicFramePr>
          <p:cNvPr id="6" name="Chart 0" descr=""/>
          <p:cNvGraphicFramePr/>
          <p:nvPr/>
        </p:nvGraphicFramePr>
        <p:xfrm>
          <a:off x="566928" y="1923943"/>
          <a:ext cx="6400800" cy="3467405"/>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333488" y="1923943"/>
            <a:ext cx="4288536" cy="3467405"/>
          </a:xfrm>
          <a:prstGeom prst="roundRect">
            <a:avLst>
              <a:gd name="adj" fmla="val 2500"/>
            </a:avLst>
          </a:prstGeom>
          <a:solidFill>
            <a:srgbClr val="F0E4DA"/>
          </a:solidFill>
          <a:ln w="9525">
            <a:solidFill>
              <a:srgbClr val="DCD8D0"/>
            </a:solidFill>
            <a:prstDash val="solid"/>
          </a:ln>
        </p:spPr>
      </p:sp>
      <p:sp>
        <p:nvSpPr>
          <p:cNvPr id="8" name="Text 5"/>
          <p:cNvSpPr txBox="1"/>
          <p:nvPr/>
        </p:nvSpPr>
        <p:spPr>
          <a:xfrm>
            <a:off x="7607808" y="2173163"/>
            <a:ext cx="3749040" cy="390083"/>
          </a:xfrm>
          <a:prstGeom prst="rect">
            <a:avLst/>
          </a:prstGeom>
          <a:noFill/>
          <a:ln/>
        </p:spPr>
        <p:txBody>
          <a:bodyPr wrap="square" lIns="0" tIns="0" rIns="0" bIns="0" rtlCol="0" anchor="ctr"/>
          <a:lstStyle/>
          <a:p>
            <a:pPr indent="0" marL="0">
              <a:buNone/>
            </a:pPr>
            <a:r>
              <a:rPr lang="en-US" sz="1700" b="1" dirty="0">
                <a:solidFill>
                  <a:srgbClr val="C2410C"/>
                </a:solidFill>
                <a:latin typeface="Calibri" pitchFamily="34" charset="0"/>
                <a:ea typeface="Calibri" pitchFamily="34" charset="-122"/>
                <a:cs typeface="Calibri" pitchFamily="34" charset="-120"/>
              </a:rPr>
              <a:t>What this settles</a:t>
            </a:r>
            <a:endParaRPr lang="en-US" sz="1700" dirty="0"/>
          </a:p>
        </p:txBody>
      </p:sp>
      <p:sp>
        <p:nvSpPr>
          <p:cNvPr id="9" name="Text 6"/>
          <p:cNvSpPr txBox="1"/>
          <p:nvPr/>
        </p:nvSpPr>
        <p:spPr>
          <a:xfrm>
            <a:off x="7607808" y="2649931"/>
            <a:ext cx="3749040" cy="2600554"/>
          </a:xfrm>
          <a:prstGeom prst="rect">
            <a:avLst/>
          </a:prstGeom>
          <a:noFill/>
          <a:ln/>
        </p:spPr>
        <p:txBody>
          <a:bodyPr wrap="square" lIns="0" tIns="0" rIns="0" bIns="0" rtlCol="0" anchor="ctr"/>
          <a:lstStyle/>
          <a:p>
            <a:pPr marL="342900" indent="-342900">
              <a:spcAft>
                <a:spcPts val="700"/>
              </a:spcAft>
              <a:buSzPct val="100000"/>
              <a:buChar char="•"/>
            </a:pPr>
            <a:r>
              <a:rPr lang="en-US" sz="1350" dirty="0">
                <a:solidFill>
                  <a:srgbClr val="13161A"/>
                </a:solidFill>
                <a:latin typeface="Calibri" pitchFamily="34" charset="0"/>
                <a:ea typeface="Calibri" pitchFamily="34" charset="-122"/>
                <a:cs typeface="Calibri" pitchFamily="34" charset="-120"/>
              </a:rPr>
              <a:t>1 Gbps gets 60% of what 10 Gbps does</a:t>
            </a:r>
            <a:endParaRPr lang="en-US" sz="1350" dirty="0"/>
          </a:p>
          <a:p>
            <a:pPr marL="342900" indent="-342900">
              <a:spcAft>
                <a:spcPts val="700"/>
              </a:spcAft>
              <a:buSzPct val="100000"/>
              <a:buChar char="•"/>
            </a:pPr>
            <a:r>
              <a:rPr lang="en-US" sz="1350" dirty="0">
                <a:solidFill>
                  <a:srgbClr val="13161A"/>
                </a:solidFill>
                <a:latin typeface="Calibri" pitchFamily="34" charset="0"/>
                <a:ea typeface="Calibri" pitchFamily="34" charset="-122"/>
                <a:cs typeface="Calibri" pitchFamily="34" charset="-120"/>
              </a:rPr>
              <a:t>Past 10 Gbps buys nothing: the limit becomes memory, not the wire</a:t>
            </a:r>
            <a:endParaRPr lang="en-US" sz="1350" dirty="0"/>
          </a:p>
          <a:p>
            <a:pPr marL="342900" indent="-342900">
              <a:spcAft>
                <a:spcPts val="700"/>
              </a:spcAft>
              <a:buSzPct val="100000"/>
              <a:buChar char="•"/>
            </a:pPr>
            <a:r>
              <a:rPr lang="en-US" sz="1350" dirty="0">
                <a:solidFill>
                  <a:srgbClr val="13161A"/>
                </a:solidFill>
                <a:latin typeface="Calibri" pitchFamily="34" charset="0"/>
                <a:ea typeface="Calibri" pitchFamily="34" charset="-122"/>
                <a:cs typeface="Calibri" pitchFamily="34" charset="-120"/>
              </a:rPr>
              <a:t>100 Mbps is genuinely too slow</a:t>
            </a:r>
            <a:endParaRPr lang="en-US" sz="1350" dirty="0"/>
          </a:p>
          <a:p>
            <a:pPr marL="342900" indent="-342900">
              <a:spcAft>
                <a:spcPts val="700"/>
              </a:spcAft>
              <a:buSzPct val="100000"/>
              <a:buChar char="•"/>
            </a:pPr>
            <a:r>
              <a:rPr lang="en-US" sz="1350" dirty="0">
                <a:solidFill>
                  <a:srgbClr val="13161A"/>
                </a:solidFill>
                <a:latin typeface="Calibri" pitchFamily="34" charset="0"/>
                <a:ea typeface="Calibri" pitchFamily="34" charset="-122"/>
                <a:cs typeface="Calibri" pitchFamily="34" charset="-120"/>
              </a:rPr>
              <a:t>So we buy 1 Gbps and spend the difference on a second board</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3161A"/>
        </a:solidFill>
      </p:bgPr>
    </p:bg>
    <p:spTree>
      <p:nvGrpSpPr>
        <p:cNvPr id="1" name=""/>
        <p:cNvGrpSpPr/>
        <p:nvPr/>
      </p:nvGrpSpPr>
      <p:grpSpPr>
        <a:xfrm>
          <a:off x="0" y="0"/>
          <a:ext cx="0" cy="0"/>
          <a:chOff x="0" y="0"/>
          <a:chExt cx="0" cy="0"/>
        </a:xfrm>
      </p:grpSpPr>
      <p:sp>
        <p:nvSpPr>
          <p:cNvPr id="2" name="Text 0"/>
          <p:cNvSpPr txBox="1"/>
          <p:nvPr/>
        </p:nvSpPr>
        <p:spPr>
          <a:xfrm>
            <a:off x="566928" y="658368"/>
            <a:ext cx="11055096" cy="566928"/>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Same model. Same result.</a:t>
            </a:r>
            <a:endParaRPr lang="en-US" sz="3400" dirty="0"/>
          </a:p>
        </p:txBody>
      </p:sp>
      <p:sp>
        <p:nvSpPr>
          <p:cNvPr id="3" name="Text 1"/>
          <p:cNvSpPr txBox="1"/>
          <p:nvPr/>
        </p:nvSpPr>
        <p:spPr>
          <a:xfrm>
            <a:off x="566928" y="1234440"/>
            <a:ext cx="11055096" cy="347472"/>
          </a:xfrm>
          <a:prstGeom prst="rect">
            <a:avLst/>
          </a:prstGeom>
          <a:noFill/>
          <a:ln/>
        </p:spPr>
        <p:txBody>
          <a:bodyPr wrap="square" lIns="0" tIns="0" rIns="0" bIns="0" rtlCol="0" anchor="ctr"/>
          <a:lstStyle/>
          <a:p>
            <a:pPr indent="0" marL="0">
              <a:buNone/>
            </a:pPr>
            <a:r>
              <a:rPr lang="en-US" sz="1600" dirty="0">
                <a:solidFill>
                  <a:srgbClr val="6A6F78"/>
                </a:solidFill>
                <a:latin typeface="Calibri" pitchFamily="34" charset="0"/>
                <a:ea typeface="Calibri" pitchFamily="34" charset="-122"/>
                <a:cs typeface="Calibri" pitchFamily="34" charset="-120"/>
              </a:rPr>
              <a:t>Qwen3-0.6B, tokens per second</a:t>
            </a:r>
            <a:endParaRPr lang="en-US" sz="1600" dirty="0"/>
          </a:p>
        </p:txBody>
      </p:sp>
      <p:sp>
        <p:nvSpPr>
          <p:cNvPr id="4" name="Shape 2"/>
          <p:cNvSpPr/>
          <p:nvPr/>
        </p:nvSpPr>
        <p:spPr>
          <a:xfrm>
            <a:off x="566928" y="2086478"/>
            <a:ext cx="5349240" cy="3142336"/>
          </a:xfrm>
          <a:prstGeom prst="roundRect">
            <a:avLst>
              <a:gd name="adj" fmla="val 3448"/>
            </a:avLst>
          </a:prstGeom>
          <a:solidFill>
            <a:srgbClr val="1C2024"/>
          </a:solidFill>
          <a:ln w="12700">
            <a:solidFill>
              <a:srgbClr val="2E343A"/>
            </a:solidFill>
            <a:prstDash val="solid"/>
          </a:ln>
        </p:spPr>
      </p:sp>
      <p:sp>
        <p:nvSpPr>
          <p:cNvPr id="5" name="Text 3"/>
          <p:cNvSpPr txBox="1"/>
          <p:nvPr/>
        </p:nvSpPr>
        <p:spPr>
          <a:xfrm>
            <a:off x="932688" y="2324862"/>
            <a:ext cx="4617720" cy="455097"/>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Redwood</a:t>
            </a:r>
            <a:endParaRPr lang="en-US" sz="2000" dirty="0"/>
          </a:p>
        </p:txBody>
      </p:sp>
      <p:sp>
        <p:nvSpPr>
          <p:cNvPr id="6" name="Text 4"/>
          <p:cNvSpPr txBox="1"/>
          <p:nvPr/>
        </p:nvSpPr>
        <p:spPr>
          <a:xfrm>
            <a:off x="932688" y="2779959"/>
            <a:ext cx="4617720" cy="368412"/>
          </a:xfrm>
          <a:prstGeom prst="rect">
            <a:avLst/>
          </a:prstGeom>
          <a:noFill/>
          <a:ln/>
        </p:spPr>
        <p:txBody>
          <a:bodyPr wrap="square" lIns="0" tIns="0" rIns="0" bIns="0" rtlCol="0" anchor="ctr"/>
          <a:lstStyle/>
          <a:p>
            <a:pPr indent="0" marL="0">
              <a:buNone/>
            </a:pPr>
            <a:r>
              <a:rPr lang="en-US" sz="1350" dirty="0">
                <a:solidFill>
                  <a:srgbClr val="6A6F78"/>
                </a:solidFill>
                <a:latin typeface="Calibri" pitchFamily="34" charset="0"/>
                <a:ea typeface="Calibri" pitchFamily="34" charset="-122"/>
                <a:cs typeface="Calibri" pitchFamily="34" charset="-120"/>
              </a:rPr>
              <a:t>AMD Versal VPK180</a:t>
            </a:r>
            <a:endParaRPr lang="en-US" sz="1350" dirty="0"/>
          </a:p>
        </p:txBody>
      </p:sp>
      <p:sp>
        <p:nvSpPr>
          <p:cNvPr id="7" name="Text 5"/>
          <p:cNvSpPr txBox="1"/>
          <p:nvPr/>
        </p:nvSpPr>
        <p:spPr>
          <a:xfrm>
            <a:off x="932688" y="3191713"/>
            <a:ext cx="4617720" cy="476768"/>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$17,995</a:t>
            </a:r>
            <a:endParaRPr lang="en-US" sz="1900" dirty="0"/>
          </a:p>
        </p:txBody>
      </p:sp>
      <p:sp>
        <p:nvSpPr>
          <p:cNvPr id="8" name="Text 6"/>
          <p:cNvSpPr txBox="1"/>
          <p:nvPr/>
        </p:nvSpPr>
        <p:spPr>
          <a:xfrm>
            <a:off x="932688" y="3733495"/>
            <a:ext cx="4617720" cy="1029386"/>
          </a:xfrm>
          <a:prstGeom prst="rect">
            <a:avLst/>
          </a:prstGeom>
          <a:noFill/>
          <a:ln/>
        </p:spPr>
        <p:txBody>
          <a:bodyPr wrap="square" lIns="0" tIns="0" rIns="0" bIns="0" rtlCol="0" anchor="ctr"/>
          <a:lstStyle/>
          <a:p>
            <a:pPr indent="0" marL="0">
              <a:buNone/>
            </a:pPr>
            <a:r>
              <a:rPr lang="en-US" sz="5600" b="1" dirty="0">
                <a:solidFill>
                  <a:srgbClr val="FFFFFF"/>
                </a:solidFill>
                <a:latin typeface="Calibri" pitchFamily="34" charset="0"/>
                <a:ea typeface="Calibri" pitchFamily="34" charset="-122"/>
                <a:cs typeface="Calibri" pitchFamily="34" charset="-120"/>
              </a:rPr>
              <a:t>12.1</a:t>
            </a:r>
            <a:endParaRPr lang="en-US" sz="5600" dirty="0"/>
          </a:p>
        </p:txBody>
      </p:sp>
      <p:sp>
        <p:nvSpPr>
          <p:cNvPr id="9" name="Text 7"/>
          <p:cNvSpPr txBox="1"/>
          <p:nvPr/>
        </p:nvSpPr>
        <p:spPr>
          <a:xfrm>
            <a:off x="2670048" y="4199428"/>
            <a:ext cx="2834640" cy="433426"/>
          </a:xfrm>
          <a:prstGeom prst="rect">
            <a:avLst/>
          </a:prstGeom>
          <a:noFill/>
          <a:ln/>
        </p:spPr>
        <p:txBody>
          <a:bodyPr wrap="square" lIns="0" tIns="0" rIns="0" bIns="0" rtlCol="0" anchor="ctr"/>
          <a:lstStyle/>
          <a:p>
            <a:pPr indent="0" marL="0">
              <a:buNone/>
            </a:pPr>
            <a:r>
              <a:rPr lang="en-US" sz="1200" i="1" dirty="0">
                <a:solidFill>
                  <a:srgbClr val="6A6F78"/>
                </a:solidFill>
                <a:latin typeface="Calibri" pitchFamily="34" charset="0"/>
                <a:ea typeface="Calibri" pitchFamily="34" charset="-122"/>
                <a:cs typeface="Calibri" pitchFamily="34" charset="-120"/>
              </a:rPr>
              <a:t>measured on silicon</a:t>
            </a:r>
            <a:endParaRPr lang="en-US" sz="1200" dirty="0"/>
          </a:p>
        </p:txBody>
      </p:sp>
      <p:sp>
        <p:nvSpPr>
          <p:cNvPr id="10" name="Shape 8"/>
          <p:cNvSpPr/>
          <p:nvPr/>
        </p:nvSpPr>
        <p:spPr>
          <a:xfrm>
            <a:off x="6236208" y="2086478"/>
            <a:ext cx="5349240" cy="3142336"/>
          </a:xfrm>
          <a:prstGeom prst="roundRect">
            <a:avLst>
              <a:gd name="adj" fmla="val 3448"/>
            </a:avLst>
          </a:prstGeom>
          <a:solidFill>
            <a:srgbClr val="241A14"/>
          </a:solidFill>
          <a:ln w="19050">
            <a:solidFill>
              <a:srgbClr val="C2410C"/>
            </a:solidFill>
            <a:prstDash val="solid"/>
          </a:ln>
        </p:spPr>
      </p:sp>
      <p:sp>
        <p:nvSpPr>
          <p:cNvPr id="11" name="Text 9"/>
          <p:cNvSpPr txBox="1"/>
          <p:nvPr/>
        </p:nvSpPr>
        <p:spPr>
          <a:xfrm>
            <a:off x="6601968" y="2324862"/>
            <a:ext cx="4617720" cy="455097"/>
          </a:xfrm>
          <a:prstGeom prst="rect">
            <a:avLst/>
          </a:prstGeom>
          <a:noFill/>
          <a:ln/>
        </p:spPr>
        <p:txBody>
          <a:bodyPr wrap="square" lIns="0" tIns="0" rIns="0" bIns="0" rtlCol="0" anchor="ctr"/>
          <a:lstStyle/>
          <a:p>
            <a:pPr indent="0" marL="0">
              <a:buNone/>
            </a:pPr>
            <a:r>
              <a:rPr lang="en-US" sz="2000" b="1" dirty="0">
                <a:solidFill>
                  <a:srgbClr val="C2410C"/>
                </a:solidFill>
                <a:latin typeface="Calibri" pitchFamily="34" charset="0"/>
                <a:ea typeface="Calibri" pitchFamily="34" charset="-122"/>
                <a:cs typeface="Calibri" pitchFamily="34" charset="-120"/>
              </a:rPr>
              <a:t>fpgAI</a:t>
            </a:r>
            <a:endParaRPr lang="en-US" sz="2000" dirty="0"/>
          </a:p>
        </p:txBody>
      </p:sp>
      <p:sp>
        <p:nvSpPr>
          <p:cNvPr id="12" name="Text 10"/>
          <p:cNvSpPr txBox="1"/>
          <p:nvPr/>
        </p:nvSpPr>
        <p:spPr>
          <a:xfrm>
            <a:off x="6601968" y="2779959"/>
            <a:ext cx="4617720" cy="368412"/>
          </a:xfrm>
          <a:prstGeom prst="rect">
            <a:avLst/>
          </a:prstGeom>
          <a:noFill/>
          <a:ln/>
        </p:spPr>
        <p:txBody>
          <a:bodyPr wrap="square" lIns="0" tIns="0" rIns="0" bIns="0" rtlCol="0" anchor="ctr"/>
          <a:lstStyle/>
          <a:p>
            <a:pPr indent="0" marL="0">
              <a:buNone/>
            </a:pPr>
            <a:r>
              <a:rPr lang="en-US" sz="1350" dirty="0">
                <a:solidFill>
                  <a:srgbClr val="6A6F78"/>
                </a:solidFill>
                <a:latin typeface="Calibri" pitchFamily="34" charset="0"/>
                <a:ea typeface="Calibri" pitchFamily="34" charset="-122"/>
                <a:cs typeface="Calibri" pitchFamily="34" charset="-120"/>
              </a:rPr>
              <a:t>Two FPGA boards</a:t>
            </a:r>
            <a:endParaRPr lang="en-US" sz="1350" dirty="0"/>
          </a:p>
        </p:txBody>
      </p:sp>
      <p:sp>
        <p:nvSpPr>
          <p:cNvPr id="13" name="Text 11"/>
          <p:cNvSpPr txBox="1"/>
          <p:nvPr/>
        </p:nvSpPr>
        <p:spPr>
          <a:xfrm>
            <a:off x="6601968" y="3191713"/>
            <a:ext cx="4617720" cy="476768"/>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~$600</a:t>
            </a:r>
            <a:endParaRPr lang="en-US" sz="1900" dirty="0"/>
          </a:p>
        </p:txBody>
      </p:sp>
      <p:sp>
        <p:nvSpPr>
          <p:cNvPr id="14" name="Text 12"/>
          <p:cNvSpPr txBox="1"/>
          <p:nvPr/>
        </p:nvSpPr>
        <p:spPr>
          <a:xfrm>
            <a:off x="6601968" y="3733495"/>
            <a:ext cx="4617720" cy="1029386"/>
          </a:xfrm>
          <a:prstGeom prst="rect">
            <a:avLst/>
          </a:prstGeom>
          <a:noFill/>
          <a:ln/>
        </p:spPr>
        <p:txBody>
          <a:bodyPr wrap="square" lIns="0" tIns="0" rIns="0" bIns="0" rtlCol="0" anchor="ctr"/>
          <a:lstStyle/>
          <a:p>
            <a:pPr indent="0" marL="0">
              <a:buNone/>
            </a:pPr>
            <a:r>
              <a:rPr lang="en-US" sz="5600" b="1" dirty="0">
                <a:solidFill>
                  <a:srgbClr val="C2410C"/>
                </a:solidFill>
                <a:latin typeface="Calibri" pitchFamily="34" charset="0"/>
                <a:ea typeface="Calibri" pitchFamily="34" charset="-122"/>
                <a:cs typeface="Calibri" pitchFamily="34" charset="-120"/>
              </a:rPr>
              <a:t>43.3</a:t>
            </a:r>
            <a:endParaRPr lang="en-US" sz="5600" dirty="0"/>
          </a:p>
        </p:txBody>
      </p:sp>
      <p:sp>
        <p:nvSpPr>
          <p:cNvPr id="15" name="Text 13"/>
          <p:cNvSpPr txBox="1"/>
          <p:nvPr/>
        </p:nvSpPr>
        <p:spPr>
          <a:xfrm>
            <a:off x="8339328" y="4199428"/>
            <a:ext cx="2834640" cy="433426"/>
          </a:xfrm>
          <a:prstGeom prst="rect">
            <a:avLst/>
          </a:prstGeom>
          <a:noFill/>
          <a:ln/>
        </p:spPr>
        <p:txBody>
          <a:bodyPr wrap="square" lIns="0" tIns="0" rIns="0" bIns="0" rtlCol="0" anchor="ctr"/>
          <a:lstStyle/>
          <a:p>
            <a:pPr indent="0" marL="0">
              <a:buNone/>
            </a:pPr>
            <a:r>
              <a:rPr lang="en-US" sz="1200" i="1" dirty="0">
                <a:solidFill>
                  <a:srgbClr val="6A6F78"/>
                </a:solidFill>
                <a:latin typeface="Calibri" pitchFamily="34" charset="0"/>
                <a:ea typeface="Calibri" pitchFamily="34" charset="-122"/>
                <a:cs typeface="Calibri" pitchFamily="34" charset="-120"/>
              </a:rPr>
              <a:t>predicted by our model</a:t>
            </a:r>
            <a:endParaRPr lang="en-US" sz="1200" dirty="0"/>
          </a:p>
        </p:txBody>
      </p:sp>
      <p:sp>
        <p:nvSpPr>
          <p:cNvPr id="16" name="Text 14"/>
          <p:cNvSpPr txBox="1"/>
          <p:nvPr/>
        </p:nvSpPr>
        <p:spPr>
          <a:xfrm>
            <a:off x="566928" y="5553883"/>
            <a:ext cx="11055096" cy="487604"/>
          </a:xfrm>
          <a:prstGeom prst="rect">
            <a:avLst/>
          </a:prstGeom>
          <a:noFill/>
          <a:ln/>
        </p:spPr>
        <p:txBody>
          <a:bodyPr wrap="square" lIns="0" tIns="0" rIns="0" bIns="0" rtlCol="0" anchor="ctr"/>
          <a:lstStyle/>
          <a:p>
            <a:pPr indent="0" marL="0">
              <a:buNone/>
            </a:pPr>
            <a:r>
              <a:rPr lang="en-US" sz="1600" dirty="0">
                <a:solidFill>
                  <a:srgbClr val="F0E4DA"/>
                </a:solidFill>
                <a:latin typeface="Calibri" pitchFamily="34" charset="0"/>
                <a:ea typeface="Calibri" pitchFamily="34" charset="-122"/>
                <a:cs typeface="Calibri" pitchFamily="34" charset="-120"/>
              </a:rPr>
              <a:t>Their budget bought headroom they never used. It did not buy throughput, and their own paper says so.</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566928" y="384048"/>
            <a:ext cx="329184" cy="329184"/>
          </a:xfrm>
          <a:prstGeom prst="roundRect">
            <a:avLst>
              <a:gd name="adj" fmla="val 16667"/>
            </a:avLst>
          </a:prstGeom>
          <a:solidFill>
            <a:srgbClr val="C2410C"/>
          </a:solidFill>
          <a:ln w="12700">
            <a:solidFill>
              <a:srgbClr val="C2410C"/>
            </a:solidFill>
            <a:prstDash val="solid"/>
          </a:ln>
        </p:spPr>
      </p:sp>
      <p:sp>
        <p:nvSpPr>
          <p:cNvPr id="3" name="Text 1"/>
          <p:cNvSpPr txBox="1"/>
          <p:nvPr/>
        </p:nvSpPr>
        <p:spPr>
          <a:xfrm>
            <a:off x="566928" y="3840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4" name="Text 2"/>
          <p:cNvSpPr txBox="1"/>
          <p:nvPr/>
        </p:nvSpPr>
        <p:spPr>
          <a:xfrm>
            <a:off x="1042416" y="310896"/>
            <a:ext cx="10579608" cy="512064"/>
          </a:xfrm>
          <a:prstGeom prst="rect">
            <a:avLst/>
          </a:prstGeom>
          <a:noFill/>
          <a:ln/>
        </p:spPr>
        <p:txBody>
          <a:bodyPr wrap="square" lIns="0" tIns="0" rIns="0" bIns="0" rtlCol="0" anchor="ctr"/>
          <a:lstStyle/>
          <a:p>
            <a:pPr indent="0" marL="0">
              <a:buNone/>
            </a:pPr>
            <a:r>
              <a:rPr lang="en-US" sz="3200" b="1" dirty="0">
                <a:solidFill>
                  <a:srgbClr val="13161A"/>
                </a:solidFill>
                <a:latin typeface="Calibri" pitchFamily="34" charset="0"/>
                <a:ea typeface="Calibri" pitchFamily="34" charset="-122"/>
                <a:cs typeface="Calibri" pitchFamily="34" charset="-120"/>
              </a:rPr>
              <a:t>Four modules, four owners, all in parallel</a:t>
            </a:r>
            <a:endParaRPr lang="en-US" sz="3200" dirty="0"/>
          </a:p>
        </p:txBody>
      </p:sp>
      <p:sp>
        <p:nvSpPr>
          <p:cNvPr id="5" name="Text 3"/>
          <p:cNvSpPr txBox="1"/>
          <p:nvPr/>
        </p:nvSpPr>
        <p:spPr>
          <a:xfrm>
            <a:off x="1042416" y="841248"/>
            <a:ext cx="10579608" cy="329184"/>
          </a:xfrm>
          <a:prstGeom prst="rect">
            <a:avLst/>
          </a:prstGeom>
          <a:noFill/>
          <a:ln/>
        </p:spPr>
        <p:txBody>
          <a:bodyPr wrap="square" lIns="0" tIns="0" rIns="0" bIns="0" rtlCol="0" anchor="ctr"/>
          <a:lstStyle/>
          <a:p>
            <a:pPr indent="0" marL="0">
              <a:buNone/>
            </a:pPr>
            <a:r>
              <a:rPr lang="en-US" sz="1400" dirty="0">
                <a:solidFill>
                  <a:srgbClr val="6A6F78"/>
                </a:solidFill>
                <a:latin typeface="Calibri" pitchFamily="34" charset="0"/>
                <a:ea typeface="Calibri" pitchFamily="34" charset="-122"/>
                <a:cs typeface="Calibri" pitchFamily="34" charset="-120"/>
              </a:rPr>
              <a:t>Owners are accountable, not exclusive. Work that crosses a boundary is done jointly.</a:t>
            </a:r>
            <a:endParaRPr lang="en-US" sz="1400" dirty="0"/>
          </a:p>
        </p:txBody>
      </p:sp>
      <p:sp>
        <p:nvSpPr>
          <p:cNvPr id="6" name="Shape 4"/>
          <p:cNvSpPr/>
          <p:nvPr/>
        </p:nvSpPr>
        <p:spPr>
          <a:xfrm>
            <a:off x="566928" y="1923943"/>
            <a:ext cx="5349240" cy="1625346"/>
          </a:xfrm>
          <a:prstGeom prst="roundRect">
            <a:avLst>
              <a:gd name="adj" fmla="val 5333"/>
            </a:avLst>
          </a:prstGeom>
          <a:solidFill>
            <a:srgbClr val="FFFFFF"/>
          </a:solidFill>
          <a:ln w="9525">
            <a:solidFill>
              <a:srgbClr val="DCD8D0"/>
            </a:solidFill>
            <a:prstDash val="solid"/>
          </a:ln>
        </p:spPr>
      </p:sp>
      <p:sp>
        <p:nvSpPr>
          <p:cNvPr id="7" name="Shape 5"/>
          <p:cNvSpPr/>
          <p:nvPr/>
        </p:nvSpPr>
        <p:spPr>
          <a:xfrm>
            <a:off x="822960" y="2205670"/>
            <a:ext cx="384048" cy="455097"/>
          </a:xfrm>
          <a:prstGeom prst="roundRect">
            <a:avLst>
              <a:gd name="adj" fmla="val 16667"/>
            </a:avLst>
          </a:prstGeom>
          <a:solidFill>
            <a:srgbClr val="C2410C"/>
          </a:solidFill>
          <a:ln w="12700">
            <a:solidFill>
              <a:srgbClr val="C2410C"/>
            </a:solidFill>
            <a:prstDash val="solid"/>
          </a:ln>
        </p:spPr>
      </p:sp>
      <p:sp>
        <p:nvSpPr>
          <p:cNvPr id="8" name="Text 6"/>
          <p:cNvSpPr txBox="1"/>
          <p:nvPr/>
        </p:nvSpPr>
        <p:spPr>
          <a:xfrm>
            <a:off x="822960" y="2205670"/>
            <a:ext cx="384048" cy="455097"/>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7"/>
          <p:cNvSpPr txBox="1"/>
          <p:nvPr/>
        </p:nvSpPr>
        <p:spPr>
          <a:xfrm>
            <a:off x="1344168" y="2162327"/>
            <a:ext cx="3200400" cy="390083"/>
          </a:xfrm>
          <a:prstGeom prst="rect">
            <a:avLst/>
          </a:prstGeom>
          <a:noFill/>
          <a:ln/>
        </p:spPr>
        <p:txBody>
          <a:bodyPr wrap="square" lIns="0" tIns="0" rIns="0" bIns="0" rtlCol="0" anchor="ctr"/>
          <a:lstStyle/>
          <a:p>
            <a:pPr indent="0" marL="0">
              <a:buNone/>
            </a:pPr>
            <a:r>
              <a:rPr lang="en-US" sz="1600" b="1" dirty="0">
                <a:solidFill>
                  <a:srgbClr val="13161A"/>
                </a:solidFill>
                <a:latin typeface="Calibri" pitchFamily="34" charset="0"/>
                <a:ea typeface="Calibri" pitchFamily="34" charset="-122"/>
                <a:cs typeface="Calibri" pitchFamily="34" charset="-120"/>
              </a:rPr>
              <a:t>Agentic generation and signoff</a:t>
            </a:r>
            <a:endParaRPr lang="en-US" sz="1600" dirty="0"/>
          </a:p>
        </p:txBody>
      </p:sp>
      <p:sp>
        <p:nvSpPr>
          <p:cNvPr id="10" name="Text 8"/>
          <p:cNvSpPr txBox="1"/>
          <p:nvPr/>
        </p:nvSpPr>
        <p:spPr>
          <a:xfrm>
            <a:off x="4498848" y="2162327"/>
            <a:ext cx="1188720" cy="390083"/>
          </a:xfrm>
          <a:prstGeom prst="rect">
            <a:avLst/>
          </a:prstGeom>
          <a:noFill/>
          <a:ln/>
        </p:spPr>
        <p:txBody>
          <a:bodyPr wrap="square" lIns="0" tIns="0" rIns="0" bIns="0" rtlCol="0" anchor="ctr"/>
          <a:lstStyle/>
          <a:p>
            <a:pPr algn="r" indent="0" marL="0">
              <a:buNone/>
            </a:pPr>
            <a:r>
              <a:rPr lang="en-US" sz="1400" b="1" dirty="0">
                <a:solidFill>
                  <a:srgbClr val="0F766E"/>
                </a:solidFill>
                <a:latin typeface="Calibri" pitchFamily="34" charset="0"/>
                <a:ea typeface="Calibri" pitchFamily="34" charset="-122"/>
                <a:cs typeface="Calibri" pitchFamily="34" charset="-120"/>
              </a:rPr>
              <a:t>Sameer</a:t>
            </a:r>
            <a:endParaRPr lang="en-US" sz="1400" dirty="0"/>
          </a:p>
        </p:txBody>
      </p:sp>
      <p:sp>
        <p:nvSpPr>
          <p:cNvPr id="11" name="Text 9"/>
          <p:cNvSpPr txBox="1"/>
          <p:nvPr/>
        </p:nvSpPr>
        <p:spPr>
          <a:xfrm>
            <a:off x="1344168" y="2617424"/>
            <a:ext cx="4297680" cy="780166"/>
          </a:xfrm>
          <a:prstGeom prst="rect">
            <a:avLst/>
          </a:prstGeom>
          <a:noFill/>
          <a:ln/>
        </p:spPr>
        <p:txBody>
          <a:bodyPr wrap="square" lIns="0" tIns="0" rIns="0" bIns="0" rtlCol="0" anchor="ctr"/>
          <a:lstStyle/>
          <a:p>
            <a:pPr indent="0" marL="0">
              <a:buNone/>
            </a:pPr>
            <a:r>
              <a:rPr lang="en-US" sz="1300" dirty="0">
                <a:solidFill>
                  <a:srgbClr val="6A6F78"/>
                </a:solidFill>
                <a:latin typeface="Calibri" pitchFamily="34" charset="0"/>
                <a:ea typeface="Calibri" pitchFamily="34" charset="-122"/>
                <a:cs typeface="Calibri" pitchFamily="34" charset="-120"/>
              </a:rPr>
              <a:t>Derives the spec, runs the agents, owns the sizing model. Pure software.</a:t>
            </a:r>
            <a:endParaRPr lang="en-US" sz="1300" dirty="0"/>
          </a:p>
        </p:txBody>
      </p:sp>
      <p:sp>
        <p:nvSpPr>
          <p:cNvPr id="12" name="Shape 10"/>
          <p:cNvSpPr/>
          <p:nvPr/>
        </p:nvSpPr>
        <p:spPr>
          <a:xfrm>
            <a:off x="6236208" y="1923943"/>
            <a:ext cx="5349240" cy="1625346"/>
          </a:xfrm>
          <a:prstGeom prst="roundRect">
            <a:avLst>
              <a:gd name="adj" fmla="val 5333"/>
            </a:avLst>
          </a:prstGeom>
          <a:solidFill>
            <a:srgbClr val="FFFFFF"/>
          </a:solidFill>
          <a:ln w="9525">
            <a:solidFill>
              <a:srgbClr val="DCD8D0"/>
            </a:solidFill>
            <a:prstDash val="solid"/>
          </a:ln>
        </p:spPr>
      </p:sp>
      <p:sp>
        <p:nvSpPr>
          <p:cNvPr id="13" name="Shape 11"/>
          <p:cNvSpPr/>
          <p:nvPr/>
        </p:nvSpPr>
        <p:spPr>
          <a:xfrm>
            <a:off x="6492240" y="2205670"/>
            <a:ext cx="384048" cy="455097"/>
          </a:xfrm>
          <a:prstGeom prst="roundRect">
            <a:avLst>
              <a:gd name="adj" fmla="val 16667"/>
            </a:avLst>
          </a:prstGeom>
          <a:solidFill>
            <a:srgbClr val="C2410C"/>
          </a:solidFill>
          <a:ln w="12700">
            <a:solidFill>
              <a:srgbClr val="C2410C"/>
            </a:solidFill>
            <a:prstDash val="solid"/>
          </a:ln>
        </p:spPr>
      </p:sp>
      <p:sp>
        <p:nvSpPr>
          <p:cNvPr id="14" name="Text 12"/>
          <p:cNvSpPr txBox="1"/>
          <p:nvPr/>
        </p:nvSpPr>
        <p:spPr>
          <a:xfrm>
            <a:off x="6492240" y="2205670"/>
            <a:ext cx="384048" cy="455097"/>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5" name="Text 13"/>
          <p:cNvSpPr txBox="1"/>
          <p:nvPr/>
        </p:nvSpPr>
        <p:spPr>
          <a:xfrm>
            <a:off x="7013448" y="2162327"/>
            <a:ext cx="3200400" cy="390083"/>
          </a:xfrm>
          <a:prstGeom prst="rect">
            <a:avLst/>
          </a:prstGeom>
          <a:noFill/>
          <a:ln/>
        </p:spPr>
        <p:txBody>
          <a:bodyPr wrap="square" lIns="0" tIns="0" rIns="0" bIns="0" rtlCol="0" anchor="ctr"/>
          <a:lstStyle/>
          <a:p>
            <a:pPr indent="0" marL="0">
              <a:buNone/>
            </a:pPr>
            <a:r>
              <a:rPr lang="en-US" sz="1600" b="1" dirty="0">
                <a:solidFill>
                  <a:srgbClr val="13161A"/>
                </a:solidFill>
                <a:latin typeface="Calibri" pitchFamily="34" charset="0"/>
                <a:ea typeface="Calibri" pitchFamily="34" charset="-122"/>
                <a:cs typeface="Calibri" pitchFamily="34" charset="-120"/>
              </a:rPr>
              <a:t>Fabric and collectives</a:t>
            </a:r>
            <a:endParaRPr lang="en-US" sz="1600" dirty="0"/>
          </a:p>
        </p:txBody>
      </p:sp>
      <p:sp>
        <p:nvSpPr>
          <p:cNvPr id="16" name="Text 14"/>
          <p:cNvSpPr txBox="1"/>
          <p:nvPr/>
        </p:nvSpPr>
        <p:spPr>
          <a:xfrm>
            <a:off x="10168128" y="2162327"/>
            <a:ext cx="1188720" cy="390083"/>
          </a:xfrm>
          <a:prstGeom prst="rect">
            <a:avLst/>
          </a:prstGeom>
          <a:noFill/>
          <a:ln/>
        </p:spPr>
        <p:txBody>
          <a:bodyPr wrap="square" lIns="0" tIns="0" rIns="0" bIns="0" rtlCol="0" anchor="ctr"/>
          <a:lstStyle/>
          <a:p>
            <a:pPr algn="r" indent="0" marL="0">
              <a:buNone/>
            </a:pPr>
            <a:r>
              <a:rPr lang="en-US" sz="1400" b="1" dirty="0">
                <a:solidFill>
                  <a:srgbClr val="0F766E"/>
                </a:solidFill>
                <a:latin typeface="Calibri" pitchFamily="34" charset="0"/>
                <a:ea typeface="Calibri" pitchFamily="34" charset="-122"/>
                <a:cs typeface="Calibri" pitchFamily="34" charset="-120"/>
              </a:rPr>
              <a:t>Yax</a:t>
            </a:r>
            <a:endParaRPr lang="en-US" sz="1400" dirty="0"/>
          </a:p>
        </p:txBody>
      </p:sp>
      <p:sp>
        <p:nvSpPr>
          <p:cNvPr id="17" name="Text 15"/>
          <p:cNvSpPr txBox="1"/>
          <p:nvPr/>
        </p:nvSpPr>
        <p:spPr>
          <a:xfrm>
            <a:off x="7013448" y="2617424"/>
            <a:ext cx="4297680" cy="780166"/>
          </a:xfrm>
          <a:prstGeom prst="rect">
            <a:avLst/>
          </a:prstGeom>
          <a:noFill/>
          <a:ln/>
        </p:spPr>
        <p:txBody>
          <a:bodyPr wrap="square" lIns="0" tIns="0" rIns="0" bIns="0" rtlCol="0" anchor="ctr"/>
          <a:lstStyle/>
          <a:p>
            <a:pPr indent="0" marL="0">
              <a:buNone/>
            </a:pPr>
            <a:r>
              <a:rPr lang="en-US" sz="1300" dirty="0">
                <a:solidFill>
                  <a:srgbClr val="6A6F78"/>
                </a:solidFill>
                <a:latin typeface="Calibri" pitchFamily="34" charset="0"/>
                <a:ea typeface="Calibri" pitchFamily="34" charset="-122"/>
                <a:cs typeface="Calibri" pitchFamily="34" charset="-120"/>
              </a:rPr>
              <a:t>Framing, checksums, flow control, ring all-reduce, and the multi-agent architecture.</a:t>
            </a:r>
            <a:endParaRPr lang="en-US" sz="1300" dirty="0"/>
          </a:p>
        </p:txBody>
      </p:sp>
      <p:sp>
        <p:nvSpPr>
          <p:cNvPr id="18" name="Shape 16"/>
          <p:cNvSpPr/>
          <p:nvPr/>
        </p:nvSpPr>
        <p:spPr>
          <a:xfrm>
            <a:off x="566928" y="3787673"/>
            <a:ext cx="5349240" cy="1625346"/>
          </a:xfrm>
          <a:prstGeom prst="roundRect">
            <a:avLst>
              <a:gd name="adj" fmla="val 5333"/>
            </a:avLst>
          </a:prstGeom>
          <a:solidFill>
            <a:srgbClr val="FFFFFF"/>
          </a:solidFill>
          <a:ln w="9525">
            <a:solidFill>
              <a:srgbClr val="DCD8D0"/>
            </a:solidFill>
            <a:prstDash val="solid"/>
          </a:ln>
        </p:spPr>
      </p:sp>
      <p:sp>
        <p:nvSpPr>
          <p:cNvPr id="19" name="Shape 17"/>
          <p:cNvSpPr/>
          <p:nvPr/>
        </p:nvSpPr>
        <p:spPr>
          <a:xfrm>
            <a:off x="822960" y="4069400"/>
            <a:ext cx="384048" cy="455097"/>
          </a:xfrm>
          <a:prstGeom prst="roundRect">
            <a:avLst>
              <a:gd name="adj" fmla="val 16667"/>
            </a:avLst>
          </a:prstGeom>
          <a:solidFill>
            <a:srgbClr val="C2410C"/>
          </a:solidFill>
          <a:ln w="12700">
            <a:solidFill>
              <a:srgbClr val="C2410C"/>
            </a:solidFill>
            <a:prstDash val="solid"/>
          </a:ln>
        </p:spPr>
      </p:sp>
      <p:sp>
        <p:nvSpPr>
          <p:cNvPr id="20" name="Text 18"/>
          <p:cNvSpPr txBox="1"/>
          <p:nvPr/>
        </p:nvSpPr>
        <p:spPr>
          <a:xfrm>
            <a:off x="822960" y="4069400"/>
            <a:ext cx="384048" cy="455097"/>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21" name="Text 19"/>
          <p:cNvSpPr txBox="1"/>
          <p:nvPr/>
        </p:nvSpPr>
        <p:spPr>
          <a:xfrm>
            <a:off x="1344168" y="4026057"/>
            <a:ext cx="3200400" cy="390083"/>
          </a:xfrm>
          <a:prstGeom prst="rect">
            <a:avLst/>
          </a:prstGeom>
          <a:noFill/>
          <a:ln/>
        </p:spPr>
        <p:txBody>
          <a:bodyPr wrap="square" lIns="0" tIns="0" rIns="0" bIns="0" rtlCol="0" anchor="ctr"/>
          <a:lstStyle/>
          <a:p>
            <a:pPr indent="0" marL="0">
              <a:buNone/>
            </a:pPr>
            <a:r>
              <a:rPr lang="en-US" sz="1600" b="1" dirty="0">
                <a:solidFill>
                  <a:srgbClr val="13161A"/>
                </a:solidFill>
                <a:latin typeface="Calibri" pitchFamily="34" charset="0"/>
                <a:ea typeface="Calibri" pitchFamily="34" charset="-122"/>
                <a:cs typeface="Calibri" pitchFamily="34" charset="-120"/>
              </a:rPr>
              <a:t>Physical implementation</a:t>
            </a:r>
            <a:endParaRPr lang="en-US" sz="1600" dirty="0"/>
          </a:p>
        </p:txBody>
      </p:sp>
      <p:sp>
        <p:nvSpPr>
          <p:cNvPr id="22" name="Text 20"/>
          <p:cNvSpPr txBox="1"/>
          <p:nvPr/>
        </p:nvSpPr>
        <p:spPr>
          <a:xfrm>
            <a:off x="4498848" y="4026057"/>
            <a:ext cx="1188720" cy="390083"/>
          </a:xfrm>
          <a:prstGeom prst="rect">
            <a:avLst/>
          </a:prstGeom>
          <a:noFill/>
          <a:ln/>
        </p:spPr>
        <p:txBody>
          <a:bodyPr wrap="square" lIns="0" tIns="0" rIns="0" bIns="0" rtlCol="0" anchor="ctr"/>
          <a:lstStyle/>
          <a:p>
            <a:pPr algn="r" indent="0" marL="0">
              <a:buNone/>
            </a:pPr>
            <a:r>
              <a:rPr lang="en-US" sz="1400" b="1" dirty="0">
                <a:solidFill>
                  <a:srgbClr val="0F766E"/>
                </a:solidFill>
                <a:latin typeface="Calibri" pitchFamily="34" charset="0"/>
                <a:ea typeface="Calibri" pitchFamily="34" charset="-122"/>
                <a:cs typeface="Calibri" pitchFamily="34" charset="-120"/>
              </a:rPr>
              <a:t>Vaibhav</a:t>
            </a:r>
            <a:endParaRPr lang="en-US" sz="1400" dirty="0"/>
          </a:p>
        </p:txBody>
      </p:sp>
      <p:sp>
        <p:nvSpPr>
          <p:cNvPr id="23" name="Text 21"/>
          <p:cNvSpPr txBox="1"/>
          <p:nvPr/>
        </p:nvSpPr>
        <p:spPr>
          <a:xfrm>
            <a:off x="1344168" y="4481154"/>
            <a:ext cx="4297680" cy="780166"/>
          </a:xfrm>
          <a:prstGeom prst="rect">
            <a:avLst/>
          </a:prstGeom>
          <a:noFill/>
          <a:ln/>
        </p:spPr>
        <p:txBody>
          <a:bodyPr wrap="square" lIns="0" tIns="0" rIns="0" bIns="0" rtlCol="0" anchor="ctr"/>
          <a:lstStyle/>
          <a:p>
            <a:pPr indent="0" marL="0">
              <a:buNone/>
            </a:pPr>
            <a:r>
              <a:rPr lang="en-US" sz="1300" dirty="0">
                <a:solidFill>
                  <a:srgbClr val="6A6F78"/>
                </a:solidFill>
                <a:latin typeface="Calibri" pitchFamily="34" charset="0"/>
                <a:ea typeface="Calibri" pitchFamily="34" charset="-122"/>
                <a:cs typeface="Calibri" pitchFamily="34" charset="-120"/>
              </a:rPr>
              <a:t>Vivado, constraints, place-and-route, bitstreams, board bring-up.</a:t>
            </a:r>
            <a:endParaRPr lang="en-US" sz="1300" dirty="0"/>
          </a:p>
        </p:txBody>
      </p:sp>
      <p:sp>
        <p:nvSpPr>
          <p:cNvPr id="24" name="Shape 22"/>
          <p:cNvSpPr/>
          <p:nvPr/>
        </p:nvSpPr>
        <p:spPr>
          <a:xfrm>
            <a:off x="6236208" y="3787673"/>
            <a:ext cx="5349240" cy="1625346"/>
          </a:xfrm>
          <a:prstGeom prst="roundRect">
            <a:avLst>
              <a:gd name="adj" fmla="val 5333"/>
            </a:avLst>
          </a:prstGeom>
          <a:solidFill>
            <a:srgbClr val="FFFFFF"/>
          </a:solidFill>
          <a:ln w="9525">
            <a:solidFill>
              <a:srgbClr val="DCD8D0"/>
            </a:solidFill>
            <a:prstDash val="solid"/>
          </a:ln>
        </p:spPr>
      </p:sp>
      <p:sp>
        <p:nvSpPr>
          <p:cNvPr id="25" name="Shape 23"/>
          <p:cNvSpPr/>
          <p:nvPr/>
        </p:nvSpPr>
        <p:spPr>
          <a:xfrm>
            <a:off x="6492240" y="4069400"/>
            <a:ext cx="384048" cy="455097"/>
          </a:xfrm>
          <a:prstGeom prst="roundRect">
            <a:avLst>
              <a:gd name="adj" fmla="val 16667"/>
            </a:avLst>
          </a:prstGeom>
          <a:solidFill>
            <a:srgbClr val="C2410C"/>
          </a:solidFill>
          <a:ln w="12700">
            <a:solidFill>
              <a:srgbClr val="C2410C"/>
            </a:solidFill>
            <a:prstDash val="solid"/>
          </a:ln>
        </p:spPr>
      </p:sp>
      <p:sp>
        <p:nvSpPr>
          <p:cNvPr id="26" name="Text 24"/>
          <p:cNvSpPr txBox="1"/>
          <p:nvPr/>
        </p:nvSpPr>
        <p:spPr>
          <a:xfrm>
            <a:off x="6492240" y="4069400"/>
            <a:ext cx="384048" cy="455097"/>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7" name="Text 25"/>
          <p:cNvSpPr txBox="1"/>
          <p:nvPr/>
        </p:nvSpPr>
        <p:spPr>
          <a:xfrm>
            <a:off x="7013448" y="4026057"/>
            <a:ext cx="3200400" cy="390083"/>
          </a:xfrm>
          <a:prstGeom prst="rect">
            <a:avLst/>
          </a:prstGeom>
          <a:noFill/>
          <a:ln/>
        </p:spPr>
        <p:txBody>
          <a:bodyPr wrap="square" lIns="0" tIns="0" rIns="0" bIns="0" rtlCol="0" anchor="ctr"/>
          <a:lstStyle/>
          <a:p>
            <a:pPr indent="0" marL="0">
              <a:buNone/>
            </a:pPr>
            <a:r>
              <a:rPr lang="en-US" sz="1600" b="1" dirty="0">
                <a:solidFill>
                  <a:srgbClr val="13161A"/>
                </a:solidFill>
                <a:latin typeface="Calibri" pitchFamily="34" charset="0"/>
                <a:ea typeface="Calibri" pitchFamily="34" charset="-122"/>
                <a:cs typeface="Calibri" pitchFamily="34" charset="-120"/>
              </a:rPr>
              <a:t>Verification and the link</a:t>
            </a:r>
            <a:endParaRPr lang="en-US" sz="1600" dirty="0"/>
          </a:p>
        </p:txBody>
      </p:sp>
      <p:sp>
        <p:nvSpPr>
          <p:cNvPr id="28" name="Text 26"/>
          <p:cNvSpPr txBox="1"/>
          <p:nvPr/>
        </p:nvSpPr>
        <p:spPr>
          <a:xfrm>
            <a:off x="10168128" y="4026057"/>
            <a:ext cx="1188720" cy="390083"/>
          </a:xfrm>
          <a:prstGeom prst="rect">
            <a:avLst/>
          </a:prstGeom>
          <a:noFill/>
          <a:ln/>
        </p:spPr>
        <p:txBody>
          <a:bodyPr wrap="square" lIns="0" tIns="0" rIns="0" bIns="0" rtlCol="0" anchor="ctr"/>
          <a:lstStyle/>
          <a:p>
            <a:pPr algn="r" indent="0" marL="0">
              <a:buNone/>
            </a:pPr>
            <a:r>
              <a:rPr lang="en-US" sz="1400" b="1" dirty="0">
                <a:solidFill>
                  <a:srgbClr val="0F766E"/>
                </a:solidFill>
                <a:latin typeface="Calibri" pitchFamily="34" charset="0"/>
                <a:ea typeface="Calibri" pitchFamily="34" charset="-122"/>
                <a:cs typeface="Calibri" pitchFamily="34" charset="-120"/>
              </a:rPr>
              <a:t>Siddh</a:t>
            </a:r>
            <a:endParaRPr lang="en-US" sz="1400" dirty="0"/>
          </a:p>
        </p:txBody>
      </p:sp>
      <p:sp>
        <p:nvSpPr>
          <p:cNvPr id="29" name="Text 27"/>
          <p:cNvSpPr txBox="1"/>
          <p:nvPr/>
        </p:nvSpPr>
        <p:spPr>
          <a:xfrm>
            <a:off x="7013448" y="4481154"/>
            <a:ext cx="4297680" cy="780166"/>
          </a:xfrm>
          <a:prstGeom prst="rect">
            <a:avLst/>
          </a:prstGeom>
          <a:noFill/>
          <a:ln/>
        </p:spPr>
        <p:txBody>
          <a:bodyPr wrap="square" lIns="0" tIns="0" rIns="0" bIns="0" rtlCol="0" anchor="ctr"/>
          <a:lstStyle/>
          <a:p>
            <a:pPr indent="0" marL="0">
              <a:buNone/>
            </a:pPr>
            <a:r>
              <a:rPr lang="en-US" sz="1300" dirty="0">
                <a:solidFill>
                  <a:srgbClr val="6A6F78"/>
                </a:solidFill>
                <a:latin typeface="Calibri" pitchFamily="34" charset="0"/>
                <a:ea typeface="Calibri" pitchFamily="34" charset="-122"/>
                <a:cs typeface="Calibri" pitchFamily="34" charset="-120"/>
              </a:rPr>
              <a:t>Coverage, formal proofs, and the physical board-to-board link.</a:t>
            </a:r>
            <a:endParaRPr lang="en-US" sz="1300" dirty="0"/>
          </a:p>
        </p:txBody>
      </p:sp>
      <p:sp>
        <p:nvSpPr>
          <p:cNvPr id="30" name="Text 28"/>
          <p:cNvSpPr txBox="1"/>
          <p:nvPr/>
        </p:nvSpPr>
        <p:spPr>
          <a:xfrm>
            <a:off x="566928" y="5770596"/>
            <a:ext cx="11055096" cy="455097"/>
          </a:xfrm>
          <a:prstGeom prst="rect">
            <a:avLst/>
          </a:prstGeom>
          <a:noFill/>
          <a:ln/>
        </p:spPr>
        <p:txBody>
          <a:bodyPr wrap="square" lIns="0" tIns="0" rIns="0" bIns="0" rtlCol="0" anchor="ctr"/>
          <a:lstStyle/>
          <a:p>
            <a:pPr indent="0" marL="0">
              <a:buNone/>
            </a:pPr>
            <a:r>
              <a:rPr lang="en-US" sz="1500" i="1" dirty="0">
                <a:solidFill>
                  <a:srgbClr val="6A6F78"/>
                </a:solidFill>
                <a:latin typeface="Calibri" pitchFamily="34" charset="0"/>
                <a:ea typeface="Calibri" pitchFamily="34" charset="-122"/>
                <a:cs typeface="Calibri" pitchFamily="34" charset="-120"/>
              </a:rPr>
              <a:t>The interfaces between them are files that already exist, so each module is built against a stub of its neighbours.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566928" y="384048"/>
            <a:ext cx="329184" cy="329184"/>
          </a:xfrm>
          <a:prstGeom prst="roundRect">
            <a:avLst>
              <a:gd name="adj" fmla="val 16667"/>
            </a:avLst>
          </a:prstGeom>
          <a:solidFill>
            <a:srgbClr val="C2410C"/>
          </a:solidFill>
          <a:ln w="12700">
            <a:solidFill>
              <a:srgbClr val="C2410C"/>
            </a:solidFill>
            <a:prstDash val="solid"/>
          </a:ln>
        </p:spPr>
      </p:sp>
      <p:sp>
        <p:nvSpPr>
          <p:cNvPr id="3" name="Text 1"/>
          <p:cNvSpPr txBox="1"/>
          <p:nvPr/>
        </p:nvSpPr>
        <p:spPr>
          <a:xfrm>
            <a:off x="566928" y="3840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4" name="Text 2"/>
          <p:cNvSpPr txBox="1"/>
          <p:nvPr/>
        </p:nvSpPr>
        <p:spPr>
          <a:xfrm>
            <a:off x="1042416" y="310896"/>
            <a:ext cx="10579608" cy="512064"/>
          </a:xfrm>
          <a:prstGeom prst="rect">
            <a:avLst/>
          </a:prstGeom>
          <a:noFill/>
          <a:ln/>
        </p:spPr>
        <p:txBody>
          <a:bodyPr wrap="square" lIns="0" tIns="0" rIns="0" bIns="0" rtlCol="0" anchor="ctr"/>
          <a:lstStyle/>
          <a:p>
            <a:pPr indent="0" marL="0">
              <a:buNone/>
            </a:pPr>
            <a:r>
              <a:rPr lang="en-US" sz="3200" b="1" dirty="0">
                <a:solidFill>
                  <a:srgbClr val="13161A"/>
                </a:solidFill>
                <a:latin typeface="Calibri" pitchFamily="34" charset="0"/>
                <a:ea typeface="Calibri" pitchFamily="34" charset="-122"/>
                <a:cs typeface="Calibri" pitchFamily="34" charset="-120"/>
              </a:rPr>
              <a:t>What we are committing to</a:t>
            </a:r>
            <a:endParaRPr lang="en-US" sz="3200" dirty="0"/>
          </a:p>
        </p:txBody>
      </p:sp>
      <p:sp>
        <p:nvSpPr>
          <p:cNvPr id="5" name="Text 3"/>
          <p:cNvSpPr txBox="1"/>
          <p:nvPr/>
        </p:nvSpPr>
        <p:spPr>
          <a:xfrm>
            <a:off x="1042416" y="841248"/>
            <a:ext cx="10579608" cy="329184"/>
          </a:xfrm>
          <a:prstGeom prst="rect">
            <a:avLst/>
          </a:prstGeom>
          <a:noFill/>
          <a:ln/>
        </p:spPr>
        <p:txBody>
          <a:bodyPr wrap="square" lIns="0" tIns="0" rIns="0" bIns="0" rtlCol="0" anchor="ctr"/>
          <a:lstStyle/>
          <a:p>
            <a:pPr indent="0" marL="0">
              <a:buNone/>
            </a:pPr>
            <a:r>
              <a:rPr lang="en-US" sz="1400" dirty="0">
                <a:solidFill>
                  <a:srgbClr val="6A6F78"/>
                </a:solidFill>
                <a:latin typeface="Calibri" pitchFamily="34" charset="0"/>
                <a:ea typeface="Calibri" pitchFamily="34" charset="-122"/>
                <a:cs typeface="Calibri" pitchFamily="34" charset="-120"/>
              </a:rPr>
              <a:t>Bronze is the floor. Gold is cut first if the schedule slips.</a:t>
            </a:r>
            <a:endParaRPr lang="en-US" sz="1400" dirty="0"/>
          </a:p>
        </p:txBody>
      </p:sp>
      <p:sp>
        <p:nvSpPr>
          <p:cNvPr id="6" name="Shape 4"/>
          <p:cNvSpPr/>
          <p:nvPr/>
        </p:nvSpPr>
        <p:spPr>
          <a:xfrm>
            <a:off x="566928" y="1923943"/>
            <a:ext cx="3520440" cy="3575761"/>
          </a:xfrm>
          <a:prstGeom prst="roundRect">
            <a:avLst>
              <a:gd name="adj" fmla="val 2424"/>
            </a:avLst>
          </a:prstGeom>
          <a:solidFill>
            <a:srgbClr val="F0E4DA"/>
          </a:solidFill>
          <a:ln w="9525">
            <a:solidFill>
              <a:srgbClr val="DCD8D0"/>
            </a:solidFill>
            <a:prstDash val="solid"/>
          </a:ln>
        </p:spPr>
      </p:sp>
      <p:sp>
        <p:nvSpPr>
          <p:cNvPr id="7" name="Text 5"/>
          <p:cNvSpPr txBox="1"/>
          <p:nvPr/>
        </p:nvSpPr>
        <p:spPr>
          <a:xfrm>
            <a:off x="841248" y="2140656"/>
            <a:ext cx="2971800" cy="433426"/>
          </a:xfrm>
          <a:prstGeom prst="rect">
            <a:avLst/>
          </a:prstGeom>
          <a:noFill/>
          <a:ln/>
        </p:spPr>
        <p:txBody>
          <a:bodyPr wrap="square" lIns="0" tIns="0" rIns="0" bIns="0" rtlCol="0" anchor="ctr"/>
          <a:lstStyle/>
          <a:p>
            <a:pPr indent="0" marL="0">
              <a:buNone/>
            </a:pPr>
            <a:r>
              <a:rPr lang="en-US" sz="2100" b="1" dirty="0">
                <a:solidFill>
                  <a:srgbClr val="000000"/>
                </a:solidFill>
                <a:latin typeface="Calibri" pitchFamily="34" charset="0"/>
                <a:ea typeface="Calibri" pitchFamily="34" charset="-122"/>
                <a:cs typeface="Calibri" pitchFamily="34" charset="-120"/>
              </a:rPr>
              <a:t>Bronze</a:t>
            </a:r>
            <a:endParaRPr lang="en-US" sz="2100" dirty="0"/>
          </a:p>
        </p:txBody>
      </p:sp>
      <p:sp>
        <p:nvSpPr>
          <p:cNvPr id="8" name="Text 6"/>
          <p:cNvSpPr txBox="1"/>
          <p:nvPr/>
        </p:nvSpPr>
        <p:spPr>
          <a:xfrm>
            <a:off x="841248" y="2563246"/>
            <a:ext cx="2971800" cy="325069"/>
          </a:xfrm>
          <a:prstGeom prst="rect">
            <a:avLst/>
          </a:prstGeom>
          <a:noFill/>
          <a:ln/>
        </p:spPr>
        <p:txBody>
          <a:bodyPr wrap="square" lIns="0" tIns="0" rIns="0" bIns="0" rtlCol="0" anchor="ctr"/>
          <a:lstStyle/>
          <a:p>
            <a:pPr indent="0" marL="0">
              <a:buNone/>
            </a:pPr>
            <a:r>
              <a:rPr lang="en-US" sz="1250" i="1" dirty="0">
                <a:solidFill>
                  <a:srgbClr val="6A6F78"/>
                </a:solidFill>
                <a:latin typeface="Calibri" pitchFamily="34" charset="0"/>
                <a:ea typeface="Calibri" pitchFamily="34" charset="-122"/>
                <a:cs typeface="Calibri" pitchFamily="34" charset="-120"/>
              </a:rPr>
              <a:t>minimum viable product</a:t>
            </a:r>
            <a:endParaRPr lang="en-US" sz="1250" dirty="0"/>
          </a:p>
        </p:txBody>
      </p:sp>
      <p:sp>
        <p:nvSpPr>
          <p:cNvPr id="9" name="Text 7"/>
          <p:cNvSpPr txBox="1"/>
          <p:nvPr/>
        </p:nvSpPr>
        <p:spPr>
          <a:xfrm>
            <a:off x="841248" y="2953329"/>
            <a:ext cx="2971800" cy="2004593"/>
          </a:xfrm>
          <a:prstGeom prst="rect">
            <a:avLst/>
          </a:prstGeom>
          <a:noFill/>
          <a:ln/>
        </p:spPr>
        <p:txBody>
          <a:bodyPr wrap="square" lIns="0" tIns="0" rIns="0" bIns="0" rtlCol="0" anchor="ctr"/>
          <a:lstStyle/>
          <a:p>
            <a:pPr marL="342900" indent="-342900">
              <a:spcAft>
                <a:spcPts val="500"/>
              </a:spcAft>
              <a:buSzPct val="100000"/>
              <a:buChar char="•"/>
            </a:pPr>
            <a:r>
              <a:rPr lang="en-US" sz="1200" dirty="0">
                <a:solidFill>
                  <a:srgbClr val="13161A"/>
                </a:solidFill>
                <a:latin typeface="Calibri" pitchFamily="34" charset="0"/>
                <a:ea typeface="Calibri" pitchFamily="34" charset="-122"/>
                <a:cs typeface="Calibri" pitchFamily="34" charset="-120"/>
              </a:rPr>
              <a:t>Agents sign off both blocks through all five gates</a:t>
            </a:r>
            <a:endParaRPr lang="en-US" sz="1200" dirty="0"/>
          </a:p>
          <a:p>
            <a:pPr marL="342900" indent="-342900">
              <a:spcAft>
                <a:spcPts val="500"/>
              </a:spcAft>
              <a:buSzPct val="100000"/>
              <a:buChar char="•"/>
            </a:pPr>
            <a:r>
              <a:rPr lang="en-US" sz="1200" dirty="0">
                <a:solidFill>
                  <a:srgbClr val="13161A"/>
                </a:solidFill>
                <a:latin typeface="Calibri" pitchFamily="34" charset="0"/>
                <a:ea typeface="Calibri" pitchFamily="34" charset="-122"/>
                <a:cs typeface="Calibri" pitchFamily="34" charset="-120"/>
              </a:rPr>
              <a:t>A bitstream from agent-written RTL runs on one board</a:t>
            </a:r>
            <a:endParaRPr lang="en-US" sz="1200" dirty="0"/>
          </a:p>
          <a:p>
            <a:pPr marL="342900" indent="-342900">
              <a:spcAft>
                <a:spcPts val="500"/>
              </a:spcAft>
              <a:buSzPct val="100000"/>
              <a:buChar char="•"/>
            </a:pPr>
            <a:r>
              <a:rPr lang="en-US" sz="1200" dirty="0">
                <a:solidFill>
                  <a:srgbClr val="13161A"/>
                </a:solidFill>
                <a:latin typeface="Calibri" pitchFamily="34" charset="0"/>
                <a:ea typeface="Calibri" pitchFamily="34" charset="-122"/>
                <a:cs typeface="Calibri" pitchFamily="34" charset="-120"/>
              </a:rPr>
              <a:t>Simulated cluster within 15% of prediction</a:t>
            </a:r>
            <a:endParaRPr lang="en-US" sz="1200" dirty="0"/>
          </a:p>
          <a:p>
            <a:pPr marL="342900" indent="-342900">
              <a:spcAft>
                <a:spcPts val="500"/>
              </a:spcAft>
              <a:buSzPct val="100000"/>
              <a:buChar char="•"/>
            </a:pPr>
            <a:r>
              <a:rPr lang="en-US" sz="1200" dirty="0">
                <a:solidFill>
                  <a:srgbClr val="13161A"/>
                </a:solidFill>
                <a:latin typeface="Calibri" pitchFamily="34" charset="0"/>
                <a:ea typeface="Calibri" pitchFamily="34" charset="-122"/>
                <a:cs typeface="Calibri" pitchFamily="34" charset="-120"/>
              </a:rPr>
              <a:t>100+ automated tests</a:t>
            </a:r>
            <a:endParaRPr lang="en-US" sz="1200" dirty="0"/>
          </a:p>
        </p:txBody>
      </p:sp>
      <p:sp>
        <p:nvSpPr>
          <p:cNvPr id="10" name="Text 8"/>
          <p:cNvSpPr txBox="1"/>
          <p:nvPr/>
        </p:nvSpPr>
        <p:spPr>
          <a:xfrm>
            <a:off x="841248" y="5033772"/>
            <a:ext cx="2971800" cy="325069"/>
          </a:xfrm>
          <a:prstGeom prst="rect">
            <a:avLst/>
          </a:prstGeom>
          <a:noFill/>
          <a:ln/>
        </p:spPr>
        <p:txBody>
          <a:bodyPr wrap="square" lIns="0" tIns="0" rIns="0" bIns="0" rtlCol="0" anchor="ctr"/>
          <a:lstStyle/>
          <a:p>
            <a:pPr indent="0" marL="0">
              <a:buNone/>
            </a:pPr>
            <a:r>
              <a:rPr lang="en-US" sz="1150" b="1" dirty="0">
                <a:solidFill>
                  <a:srgbClr val="000000"/>
                </a:solidFill>
                <a:latin typeface="Calibri" pitchFamily="34" charset="0"/>
                <a:ea typeface="Calibri" pitchFamily="34" charset="-122"/>
                <a:cs typeface="Calibri" pitchFamily="34" charset="-120"/>
              </a:rPr>
              <a:t>C2410C</a:t>
            </a:r>
            <a:endParaRPr lang="en-US" sz="1150" dirty="0"/>
          </a:p>
        </p:txBody>
      </p:sp>
      <p:sp>
        <p:nvSpPr>
          <p:cNvPr id="11" name="Shape 9"/>
          <p:cNvSpPr/>
          <p:nvPr/>
        </p:nvSpPr>
        <p:spPr>
          <a:xfrm>
            <a:off x="4306824" y="1923943"/>
            <a:ext cx="3520440" cy="3575761"/>
          </a:xfrm>
          <a:prstGeom prst="roundRect">
            <a:avLst>
              <a:gd name="adj" fmla="val 2424"/>
            </a:avLst>
          </a:prstGeom>
          <a:solidFill>
            <a:srgbClr val="FFFFFF"/>
          </a:solidFill>
          <a:ln w="9525">
            <a:solidFill>
              <a:srgbClr val="DCD8D0"/>
            </a:solidFill>
            <a:prstDash val="solid"/>
          </a:ln>
        </p:spPr>
      </p:sp>
      <p:sp>
        <p:nvSpPr>
          <p:cNvPr id="12" name="Text 10"/>
          <p:cNvSpPr txBox="1"/>
          <p:nvPr/>
        </p:nvSpPr>
        <p:spPr>
          <a:xfrm>
            <a:off x="4581144" y="2140656"/>
            <a:ext cx="2971800" cy="433426"/>
          </a:xfrm>
          <a:prstGeom prst="rect">
            <a:avLst/>
          </a:prstGeom>
          <a:noFill/>
          <a:ln/>
        </p:spPr>
        <p:txBody>
          <a:bodyPr wrap="square" lIns="0" tIns="0" rIns="0" bIns="0" rtlCol="0" anchor="ctr"/>
          <a:lstStyle/>
          <a:p>
            <a:pPr indent="0" marL="0">
              <a:buNone/>
            </a:pPr>
            <a:r>
              <a:rPr lang="en-US" sz="2100" b="1" dirty="0">
                <a:solidFill>
                  <a:srgbClr val="000000"/>
                </a:solidFill>
                <a:latin typeface="Calibri" pitchFamily="34" charset="0"/>
                <a:ea typeface="Calibri" pitchFamily="34" charset="-122"/>
                <a:cs typeface="Calibri" pitchFamily="34" charset="-120"/>
              </a:rPr>
              <a:t>Silver</a:t>
            </a:r>
            <a:endParaRPr lang="en-US" sz="2100" dirty="0"/>
          </a:p>
        </p:txBody>
      </p:sp>
      <p:sp>
        <p:nvSpPr>
          <p:cNvPr id="13" name="Text 11"/>
          <p:cNvSpPr txBox="1"/>
          <p:nvPr/>
        </p:nvSpPr>
        <p:spPr>
          <a:xfrm>
            <a:off x="4581144" y="2563246"/>
            <a:ext cx="2971800" cy="325069"/>
          </a:xfrm>
          <a:prstGeom prst="rect">
            <a:avLst/>
          </a:prstGeom>
          <a:noFill/>
          <a:ln/>
        </p:spPr>
        <p:txBody>
          <a:bodyPr wrap="square" lIns="0" tIns="0" rIns="0" bIns="0" rtlCol="0" anchor="ctr"/>
          <a:lstStyle/>
          <a:p>
            <a:pPr indent="0" marL="0">
              <a:buNone/>
            </a:pPr>
            <a:r>
              <a:rPr lang="en-US" sz="1250" i="1" dirty="0">
                <a:solidFill>
                  <a:srgbClr val="6A6F78"/>
                </a:solidFill>
                <a:latin typeface="Calibri" pitchFamily="34" charset="0"/>
                <a:ea typeface="Calibri" pitchFamily="34" charset="-122"/>
                <a:cs typeface="Calibri" pitchFamily="34" charset="-120"/>
              </a:rPr>
              <a:t>core result</a:t>
            </a:r>
            <a:endParaRPr lang="en-US" sz="1250" dirty="0"/>
          </a:p>
        </p:txBody>
      </p:sp>
      <p:sp>
        <p:nvSpPr>
          <p:cNvPr id="14" name="Text 12"/>
          <p:cNvSpPr txBox="1"/>
          <p:nvPr/>
        </p:nvSpPr>
        <p:spPr>
          <a:xfrm>
            <a:off x="4581144" y="2953329"/>
            <a:ext cx="2971800" cy="2004593"/>
          </a:xfrm>
          <a:prstGeom prst="rect">
            <a:avLst/>
          </a:prstGeom>
          <a:noFill/>
          <a:ln/>
        </p:spPr>
        <p:txBody>
          <a:bodyPr wrap="square" lIns="0" tIns="0" rIns="0" bIns="0" rtlCol="0" anchor="ctr"/>
          <a:lstStyle/>
          <a:p>
            <a:pPr marL="342900" indent="-342900">
              <a:spcAft>
                <a:spcPts val="500"/>
              </a:spcAft>
              <a:buSzPct val="100000"/>
              <a:buChar char="•"/>
            </a:pPr>
            <a:r>
              <a:rPr lang="en-US" sz="1200" dirty="0">
                <a:solidFill>
                  <a:srgbClr val="13161A"/>
                </a:solidFill>
                <a:latin typeface="Calibri" pitchFamily="34" charset="0"/>
                <a:ea typeface="Calibri" pitchFamily="34" charset="-122"/>
                <a:cs typeface="Calibri" pitchFamily="34" charset="-120"/>
              </a:rPr>
              <a:t>Two boards linked over the generated fabric</a:t>
            </a:r>
            <a:endParaRPr lang="en-US" sz="1200" dirty="0"/>
          </a:p>
          <a:p>
            <a:pPr marL="342900" indent="-342900">
              <a:spcAft>
                <a:spcPts val="500"/>
              </a:spcAft>
              <a:buSzPct val="100000"/>
              <a:buChar char="•"/>
            </a:pPr>
            <a:r>
              <a:rPr lang="en-US" sz="1200" dirty="0">
                <a:solidFill>
                  <a:srgbClr val="13161A"/>
                </a:solidFill>
                <a:latin typeface="Calibri" pitchFamily="34" charset="0"/>
                <a:ea typeface="Calibri" pitchFamily="34" charset="-122"/>
                <a:cs typeface="Calibri" pitchFamily="34" charset="-120"/>
              </a:rPr>
              <a:t>Ring all-reduce bit-exact across both</a:t>
            </a:r>
            <a:endParaRPr lang="en-US" sz="1200" dirty="0"/>
          </a:p>
          <a:p>
            <a:pPr marL="342900" indent="-342900">
              <a:spcAft>
                <a:spcPts val="500"/>
              </a:spcAft>
              <a:buSzPct val="100000"/>
              <a:buChar char="•"/>
            </a:pPr>
            <a:r>
              <a:rPr lang="en-US" sz="1200" dirty="0">
                <a:solidFill>
                  <a:srgbClr val="13161A"/>
                </a:solidFill>
                <a:latin typeface="Calibri" pitchFamily="34" charset="0"/>
                <a:ea typeface="Calibri" pitchFamily="34" charset="-122"/>
                <a:cs typeface="Calibri" pitchFamily="34" charset="-120"/>
              </a:rPr>
              <a:t>Qwen3-0.6B at 40+ tok/s measured</a:t>
            </a:r>
            <a:endParaRPr lang="en-US" sz="1200" dirty="0"/>
          </a:p>
          <a:p>
            <a:pPr marL="342900" indent="-342900">
              <a:spcAft>
                <a:spcPts val="500"/>
              </a:spcAft>
              <a:buSzPct val="100000"/>
              <a:buChar char="•"/>
            </a:pPr>
            <a:r>
              <a:rPr lang="en-US" sz="1200" dirty="0">
                <a:solidFill>
                  <a:srgbClr val="13161A"/>
                </a:solidFill>
                <a:latin typeface="Calibri" pitchFamily="34" charset="0"/>
                <a:ea typeface="Calibri" pitchFamily="34" charset="-122"/>
                <a:cs typeface="Calibri" pitchFamily="34" charset="-120"/>
              </a:rPr>
              <a:t>A block fixed by an LLM from tool output</a:t>
            </a:r>
            <a:endParaRPr lang="en-US" sz="1200" dirty="0"/>
          </a:p>
        </p:txBody>
      </p:sp>
      <p:sp>
        <p:nvSpPr>
          <p:cNvPr id="15" name="Text 13"/>
          <p:cNvSpPr txBox="1"/>
          <p:nvPr/>
        </p:nvSpPr>
        <p:spPr>
          <a:xfrm>
            <a:off x="4581144" y="5033772"/>
            <a:ext cx="2971800" cy="325069"/>
          </a:xfrm>
          <a:prstGeom prst="rect">
            <a:avLst/>
          </a:prstGeom>
          <a:noFill/>
          <a:ln/>
        </p:spPr>
        <p:txBody>
          <a:bodyPr wrap="square" lIns="0" tIns="0" rIns="0" bIns="0" rtlCol="0" anchor="ctr"/>
          <a:lstStyle/>
          <a:p>
            <a:pPr indent="0" marL="0">
              <a:buNone/>
            </a:pPr>
            <a:r>
              <a:rPr lang="en-US" sz="1150" b="1" dirty="0">
                <a:solidFill>
                  <a:srgbClr val="000000"/>
                </a:solidFill>
                <a:latin typeface="Calibri" pitchFamily="34" charset="0"/>
                <a:ea typeface="Calibri" pitchFamily="34" charset="-122"/>
                <a:cs typeface="Calibri" pitchFamily="34" charset="-120"/>
              </a:rPr>
              <a:t>0F766E</a:t>
            </a:r>
            <a:endParaRPr lang="en-US" sz="1150" dirty="0"/>
          </a:p>
        </p:txBody>
      </p:sp>
      <p:sp>
        <p:nvSpPr>
          <p:cNvPr id="16" name="Shape 14"/>
          <p:cNvSpPr/>
          <p:nvPr/>
        </p:nvSpPr>
        <p:spPr>
          <a:xfrm>
            <a:off x="8046720" y="1923943"/>
            <a:ext cx="3520440" cy="3575761"/>
          </a:xfrm>
          <a:prstGeom prst="roundRect">
            <a:avLst>
              <a:gd name="adj" fmla="val 2424"/>
            </a:avLst>
          </a:prstGeom>
          <a:solidFill>
            <a:srgbClr val="FFFFFF"/>
          </a:solidFill>
          <a:ln w="9525">
            <a:solidFill>
              <a:srgbClr val="DCD8D0"/>
            </a:solidFill>
            <a:prstDash val="solid"/>
          </a:ln>
        </p:spPr>
      </p:sp>
      <p:sp>
        <p:nvSpPr>
          <p:cNvPr id="17" name="Text 15"/>
          <p:cNvSpPr txBox="1"/>
          <p:nvPr/>
        </p:nvSpPr>
        <p:spPr>
          <a:xfrm>
            <a:off x="8321040" y="2140656"/>
            <a:ext cx="2971800" cy="433426"/>
          </a:xfrm>
          <a:prstGeom prst="rect">
            <a:avLst/>
          </a:prstGeom>
          <a:noFill/>
          <a:ln/>
        </p:spPr>
        <p:txBody>
          <a:bodyPr wrap="square" lIns="0" tIns="0" rIns="0" bIns="0" rtlCol="0" anchor="ctr"/>
          <a:lstStyle/>
          <a:p>
            <a:pPr indent="0" marL="0">
              <a:buNone/>
            </a:pPr>
            <a:r>
              <a:rPr lang="en-US" sz="2100" b="1" dirty="0">
                <a:solidFill>
                  <a:srgbClr val="000000"/>
                </a:solidFill>
                <a:latin typeface="Calibri" pitchFamily="34" charset="0"/>
                <a:ea typeface="Calibri" pitchFamily="34" charset="-122"/>
                <a:cs typeface="Calibri" pitchFamily="34" charset="-120"/>
              </a:rPr>
              <a:t>Gold</a:t>
            </a:r>
            <a:endParaRPr lang="en-US" sz="2100" dirty="0"/>
          </a:p>
        </p:txBody>
      </p:sp>
      <p:sp>
        <p:nvSpPr>
          <p:cNvPr id="18" name="Text 16"/>
          <p:cNvSpPr txBox="1"/>
          <p:nvPr/>
        </p:nvSpPr>
        <p:spPr>
          <a:xfrm>
            <a:off x="8321040" y="2563246"/>
            <a:ext cx="2971800" cy="325069"/>
          </a:xfrm>
          <a:prstGeom prst="rect">
            <a:avLst/>
          </a:prstGeom>
          <a:noFill/>
          <a:ln/>
        </p:spPr>
        <p:txBody>
          <a:bodyPr wrap="square" lIns="0" tIns="0" rIns="0" bIns="0" rtlCol="0" anchor="ctr"/>
          <a:lstStyle/>
          <a:p>
            <a:pPr indent="0" marL="0">
              <a:buNone/>
            </a:pPr>
            <a:r>
              <a:rPr lang="en-US" sz="1250" i="1" dirty="0">
                <a:solidFill>
                  <a:srgbClr val="6A6F78"/>
                </a:solidFill>
                <a:latin typeface="Calibri" pitchFamily="34" charset="0"/>
                <a:ea typeface="Calibri" pitchFamily="34" charset="-122"/>
                <a:cs typeface="Calibri" pitchFamily="34" charset="-120"/>
              </a:rPr>
              <a:t>stretch</a:t>
            </a:r>
            <a:endParaRPr lang="en-US" sz="1250" dirty="0"/>
          </a:p>
        </p:txBody>
      </p:sp>
      <p:sp>
        <p:nvSpPr>
          <p:cNvPr id="19" name="Text 17"/>
          <p:cNvSpPr txBox="1"/>
          <p:nvPr/>
        </p:nvSpPr>
        <p:spPr>
          <a:xfrm>
            <a:off x="8321040" y="2953329"/>
            <a:ext cx="2971800" cy="2004593"/>
          </a:xfrm>
          <a:prstGeom prst="rect">
            <a:avLst/>
          </a:prstGeom>
          <a:noFill/>
          <a:ln/>
        </p:spPr>
        <p:txBody>
          <a:bodyPr wrap="square" lIns="0" tIns="0" rIns="0" bIns="0" rtlCol="0" anchor="ctr"/>
          <a:lstStyle/>
          <a:p>
            <a:pPr marL="342900" indent="-342900">
              <a:spcAft>
                <a:spcPts val="500"/>
              </a:spcAft>
              <a:buSzPct val="100000"/>
              <a:buChar char="•"/>
            </a:pPr>
            <a:r>
              <a:rPr lang="en-US" sz="1200" dirty="0">
                <a:solidFill>
                  <a:srgbClr val="13161A"/>
                </a:solidFill>
                <a:latin typeface="Calibri" pitchFamily="34" charset="0"/>
                <a:ea typeface="Calibri" pitchFamily="34" charset="-122"/>
                <a:cs typeface="Calibri" pitchFamily="34" charset="-120"/>
              </a:rPr>
              <a:t>Larger models by adding boards</a:t>
            </a:r>
            <a:endParaRPr lang="en-US" sz="1200" dirty="0"/>
          </a:p>
          <a:p>
            <a:pPr marL="342900" indent="-342900">
              <a:spcAft>
                <a:spcPts val="500"/>
              </a:spcAft>
              <a:buSzPct val="100000"/>
              <a:buChar char="•"/>
            </a:pPr>
            <a:r>
              <a:rPr lang="en-US" sz="1200" dirty="0">
                <a:solidFill>
                  <a:srgbClr val="13161A"/>
                </a:solidFill>
                <a:latin typeface="Calibri" pitchFamily="34" charset="0"/>
                <a:ea typeface="Calibri" pitchFamily="34" charset="-122"/>
                <a:cs typeface="Calibri" pitchFamily="34" charset="-120"/>
              </a:rPr>
              <a:t>Agent writes the verification too</a:t>
            </a:r>
            <a:endParaRPr lang="en-US" sz="1200" dirty="0"/>
          </a:p>
          <a:p>
            <a:pPr marL="342900" indent="-342900">
              <a:spcAft>
                <a:spcPts val="500"/>
              </a:spcAft>
              <a:buSzPct val="100000"/>
              <a:buChar char="•"/>
            </a:pPr>
            <a:r>
              <a:rPr lang="en-US" sz="1200" dirty="0">
                <a:solidFill>
                  <a:srgbClr val="13161A"/>
                </a:solidFill>
                <a:latin typeface="Calibri" pitchFamily="34" charset="0"/>
                <a:ea typeface="Calibri" pitchFamily="34" charset="-122"/>
                <a:cs typeface="Calibri" pitchFamily="34" charset="-120"/>
              </a:rPr>
              <a:t>Interconnect study including photonics</a:t>
            </a:r>
            <a:endParaRPr lang="en-US" sz="1200" dirty="0"/>
          </a:p>
          <a:p>
            <a:pPr marL="342900" indent="-342900">
              <a:spcAft>
                <a:spcPts val="500"/>
              </a:spcAft>
              <a:buSzPct val="100000"/>
              <a:buChar char="•"/>
            </a:pPr>
            <a:r>
              <a:rPr lang="en-US" sz="1200" dirty="0">
                <a:solidFill>
                  <a:srgbClr val="13161A"/>
                </a:solidFill>
                <a:latin typeface="Calibri" pitchFamily="34" charset="0"/>
                <a:ea typeface="Calibri" pitchFamily="34" charset="-122"/>
                <a:cs typeface="Calibri" pitchFamily="34" charset="-120"/>
              </a:rPr>
              <a:t>Optionally, silicon on a shuttle</a:t>
            </a:r>
            <a:endParaRPr lang="en-US" sz="1200" dirty="0"/>
          </a:p>
        </p:txBody>
      </p:sp>
      <p:sp>
        <p:nvSpPr>
          <p:cNvPr id="20" name="Text 18"/>
          <p:cNvSpPr txBox="1"/>
          <p:nvPr/>
        </p:nvSpPr>
        <p:spPr>
          <a:xfrm>
            <a:off x="8321040" y="5033772"/>
            <a:ext cx="2971800" cy="325069"/>
          </a:xfrm>
          <a:prstGeom prst="rect">
            <a:avLst/>
          </a:prstGeom>
          <a:noFill/>
          <a:ln/>
        </p:spPr>
        <p:txBody>
          <a:bodyPr wrap="square" lIns="0" tIns="0" rIns="0" bIns="0" rtlCol="0" anchor="ctr"/>
          <a:lstStyle/>
          <a:p>
            <a:pPr indent="0" marL="0">
              <a:buNone/>
            </a:pPr>
            <a:r>
              <a:rPr lang="en-US" sz="1150" b="1" dirty="0">
                <a:solidFill>
                  <a:srgbClr val="000000"/>
                </a:solidFill>
                <a:latin typeface="Calibri" pitchFamily="34" charset="0"/>
                <a:ea typeface="Calibri" pitchFamily="34" charset="-122"/>
                <a:cs typeface="Calibri" pitchFamily="34" charset="-120"/>
              </a:rPr>
              <a:t>6A6F78</a:t>
            </a:r>
            <a:endParaRPr lang="en-US" sz="1150" dirty="0"/>
          </a:p>
        </p:txBody>
      </p:sp>
      <p:sp>
        <p:nvSpPr>
          <p:cNvPr id="21" name="Text 19"/>
          <p:cNvSpPr txBox="1"/>
          <p:nvPr/>
        </p:nvSpPr>
        <p:spPr>
          <a:xfrm>
            <a:off x="566928" y="5792267"/>
            <a:ext cx="11055096" cy="455097"/>
          </a:xfrm>
          <a:prstGeom prst="rect">
            <a:avLst/>
          </a:prstGeom>
          <a:noFill/>
          <a:ln/>
        </p:spPr>
        <p:txBody>
          <a:bodyPr wrap="square" lIns="0" tIns="0" rIns="0" bIns="0" rtlCol="0" anchor="ctr"/>
          <a:lstStyle/>
          <a:p>
            <a:pPr indent="0" marL="0">
              <a:buNone/>
            </a:pPr>
            <a:r>
              <a:rPr lang="en-US" sz="1500" i="1" dirty="0">
                <a:solidFill>
                  <a:srgbClr val="6A6F78"/>
                </a:solidFill>
                <a:latin typeface="Calibri" pitchFamily="34" charset="0"/>
                <a:ea typeface="Calibri" pitchFamily="34" charset="-122"/>
                <a:cs typeface="Calibri" pitchFamily="34" charset="-120"/>
              </a:rPr>
              <a:t>Bronze deliberately depends on neither a hardware purchase nor the unproven LLM iteration, which are our two riskiest items.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566928" y="384048"/>
            <a:ext cx="329184" cy="329184"/>
          </a:xfrm>
          <a:prstGeom prst="roundRect">
            <a:avLst>
              <a:gd name="adj" fmla="val 16667"/>
            </a:avLst>
          </a:prstGeom>
          <a:solidFill>
            <a:srgbClr val="C2410C"/>
          </a:solidFill>
          <a:ln w="12700">
            <a:solidFill>
              <a:srgbClr val="C2410C"/>
            </a:solidFill>
            <a:prstDash val="solid"/>
          </a:ln>
        </p:spPr>
      </p:sp>
      <p:sp>
        <p:nvSpPr>
          <p:cNvPr id="3" name="Text 1"/>
          <p:cNvSpPr txBox="1"/>
          <p:nvPr/>
        </p:nvSpPr>
        <p:spPr>
          <a:xfrm>
            <a:off x="566928" y="3840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4" name="Text 2"/>
          <p:cNvSpPr txBox="1"/>
          <p:nvPr/>
        </p:nvSpPr>
        <p:spPr>
          <a:xfrm>
            <a:off x="1042416" y="310896"/>
            <a:ext cx="10579608" cy="512064"/>
          </a:xfrm>
          <a:prstGeom prst="rect">
            <a:avLst/>
          </a:prstGeom>
          <a:noFill/>
          <a:ln/>
        </p:spPr>
        <p:txBody>
          <a:bodyPr wrap="square" lIns="0" tIns="0" rIns="0" bIns="0" rtlCol="0" anchor="ctr"/>
          <a:lstStyle/>
          <a:p>
            <a:pPr indent="0" marL="0">
              <a:buNone/>
            </a:pPr>
            <a:r>
              <a:rPr lang="en-US" sz="3200" b="1" dirty="0">
                <a:solidFill>
                  <a:srgbClr val="13161A"/>
                </a:solidFill>
                <a:latin typeface="Calibri" pitchFamily="34" charset="0"/>
                <a:ea typeface="Calibri" pitchFamily="34" charset="-122"/>
                <a:cs typeface="Calibri" pitchFamily="34" charset="-120"/>
              </a:rPr>
              <a:t>Schedule</a:t>
            </a:r>
            <a:endParaRPr lang="en-US" sz="3200" dirty="0"/>
          </a:p>
        </p:txBody>
      </p:sp>
      <p:sp>
        <p:nvSpPr>
          <p:cNvPr id="5" name="Text 3"/>
          <p:cNvSpPr txBox="1"/>
          <p:nvPr/>
        </p:nvSpPr>
        <p:spPr>
          <a:xfrm>
            <a:off x="1042416" y="841248"/>
            <a:ext cx="10579608" cy="329184"/>
          </a:xfrm>
          <a:prstGeom prst="rect">
            <a:avLst/>
          </a:prstGeom>
          <a:noFill/>
          <a:ln/>
        </p:spPr>
        <p:txBody>
          <a:bodyPr wrap="square" lIns="0" tIns="0" rIns="0" bIns="0" rtlCol="0" anchor="ctr"/>
          <a:lstStyle/>
          <a:p>
            <a:pPr indent="0" marL="0">
              <a:buNone/>
            </a:pPr>
            <a:r>
              <a:rPr lang="en-US" sz="1400" dirty="0">
                <a:solidFill>
                  <a:srgbClr val="6A6F78"/>
                </a:solidFill>
                <a:latin typeface="Calibri" pitchFamily="34" charset="0"/>
                <a:ea typeface="Calibri" pitchFamily="34" charset="-122"/>
                <a:cs typeface="Calibri" pitchFamily="34" charset="-120"/>
              </a:rPr>
              <a:t>28 weeks, September to April. Four lanes run concurrently throughout.</a:t>
            </a:r>
            <a:endParaRPr lang="en-US" sz="1400" dirty="0"/>
          </a:p>
        </p:txBody>
      </p:sp>
      <p:sp>
        <p:nvSpPr>
          <p:cNvPr id="6" name="Text 4"/>
          <p:cNvSpPr txBox="1"/>
          <p:nvPr/>
        </p:nvSpPr>
        <p:spPr>
          <a:xfrm>
            <a:off x="2167128" y="1783080"/>
            <a:ext cx="914400" cy="303398"/>
          </a:xfrm>
          <a:prstGeom prst="rect">
            <a:avLst/>
          </a:prstGeom>
          <a:noFill/>
          <a:ln/>
        </p:spPr>
        <p:txBody>
          <a:bodyPr wrap="square" lIns="0" tIns="0" rIns="0" bIns="0" rtlCol="0" anchor="ctr"/>
          <a:lstStyle/>
          <a:p>
            <a:pPr indent="0" marL="0">
              <a:buNone/>
            </a:pPr>
            <a:r>
              <a:rPr lang="en-US" sz="1150" dirty="0">
                <a:solidFill>
                  <a:srgbClr val="6A6F78"/>
                </a:solidFill>
                <a:latin typeface="Calibri" pitchFamily="34" charset="0"/>
                <a:ea typeface="Calibri" pitchFamily="34" charset="-122"/>
                <a:cs typeface="Calibri" pitchFamily="34" charset="-120"/>
              </a:rPr>
              <a:t>Sep</a:t>
            </a:r>
            <a:endParaRPr lang="en-US" sz="1150" dirty="0"/>
          </a:p>
        </p:txBody>
      </p:sp>
      <p:sp>
        <p:nvSpPr>
          <p:cNvPr id="7" name="Text 5"/>
          <p:cNvSpPr txBox="1"/>
          <p:nvPr/>
        </p:nvSpPr>
        <p:spPr>
          <a:xfrm>
            <a:off x="4154954" y="1783080"/>
            <a:ext cx="914400" cy="303398"/>
          </a:xfrm>
          <a:prstGeom prst="rect">
            <a:avLst/>
          </a:prstGeom>
          <a:noFill/>
          <a:ln/>
        </p:spPr>
        <p:txBody>
          <a:bodyPr wrap="square" lIns="0" tIns="0" rIns="0" bIns="0" rtlCol="0" anchor="ctr"/>
          <a:lstStyle/>
          <a:p>
            <a:pPr indent="0" marL="0">
              <a:buNone/>
            </a:pPr>
            <a:r>
              <a:rPr lang="en-US" sz="1150" dirty="0">
                <a:solidFill>
                  <a:srgbClr val="6A6F78"/>
                </a:solidFill>
                <a:latin typeface="Calibri" pitchFamily="34" charset="0"/>
                <a:ea typeface="Calibri" pitchFamily="34" charset="-122"/>
                <a:cs typeface="Calibri" pitchFamily="34" charset="-120"/>
              </a:rPr>
              <a:t>Nov</a:t>
            </a:r>
            <a:endParaRPr lang="en-US" sz="1150" dirty="0"/>
          </a:p>
        </p:txBody>
      </p:sp>
      <p:sp>
        <p:nvSpPr>
          <p:cNvPr id="8" name="Text 6"/>
          <p:cNvSpPr txBox="1"/>
          <p:nvPr/>
        </p:nvSpPr>
        <p:spPr>
          <a:xfrm>
            <a:off x="6142780" y="1783080"/>
            <a:ext cx="914400" cy="303398"/>
          </a:xfrm>
          <a:prstGeom prst="rect">
            <a:avLst/>
          </a:prstGeom>
          <a:noFill/>
          <a:ln/>
        </p:spPr>
        <p:txBody>
          <a:bodyPr wrap="square" lIns="0" tIns="0" rIns="0" bIns="0" rtlCol="0" anchor="ctr"/>
          <a:lstStyle/>
          <a:p>
            <a:pPr indent="0" marL="0">
              <a:buNone/>
            </a:pPr>
            <a:r>
              <a:rPr lang="en-US" sz="1150" dirty="0">
                <a:solidFill>
                  <a:srgbClr val="6A6F78"/>
                </a:solidFill>
                <a:latin typeface="Calibri" pitchFamily="34" charset="0"/>
                <a:ea typeface="Calibri" pitchFamily="34" charset="-122"/>
                <a:cs typeface="Calibri" pitchFamily="34" charset="-120"/>
              </a:rPr>
              <a:t>Jan</a:t>
            </a:r>
            <a:endParaRPr lang="en-US" sz="1150" dirty="0"/>
          </a:p>
        </p:txBody>
      </p:sp>
      <p:sp>
        <p:nvSpPr>
          <p:cNvPr id="9" name="Text 7"/>
          <p:cNvSpPr txBox="1"/>
          <p:nvPr/>
        </p:nvSpPr>
        <p:spPr>
          <a:xfrm>
            <a:off x="8130606" y="1783080"/>
            <a:ext cx="914400" cy="303398"/>
          </a:xfrm>
          <a:prstGeom prst="rect">
            <a:avLst/>
          </a:prstGeom>
          <a:noFill/>
          <a:ln/>
        </p:spPr>
        <p:txBody>
          <a:bodyPr wrap="square" lIns="0" tIns="0" rIns="0" bIns="0" rtlCol="0" anchor="ctr"/>
          <a:lstStyle/>
          <a:p>
            <a:pPr indent="0" marL="0">
              <a:buNone/>
            </a:pPr>
            <a:r>
              <a:rPr lang="en-US" sz="1150" dirty="0">
                <a:solidFill>
                  <a:srgbClr val="6A6F78"/>
                </a:solidFill>
                <a:latin typeface="Calibri" pitchFamily="34" charset="0"/>
                <a:ea typeface="Calibri" pitchFamily="34" charset="-122"/>
                <a:cs typeface="Calibri" pitchFamily="34" charset="-120"/>
              </a:rPr>
              <a:t>Mar</a:t>
            </a:r>
            <a:endParaRPr lang="en-US" sz="1150" dirty="0"/>
          </a:p>
        </p:txBody>
      </p:sp>
      <p:sp>
        <p:nvSpPr>
          <p:cNvPr id="10" name="Text 8"/>
          <p:cNvSpPr txBox="1"/>
          <p:nvPr/>
        </p:nvSpPr>
        <p:spPr>
          <a:xfrm>
            <a:off x="10118432" y="1783080"/>
            <a:ext cx="914400" cy="303398"/>
          </a:xfrm>
          <a:prstGeom prst="rect">
            <a:avLst/>
          </a:prstGeom>
          <a:noFill/>
          <a:ln/>
        </p:spPr>
        <p:txBody>
          <a:bodyPr wrap="square" lIns="0" tIns="0" rIns="0" bIns="0" rtlCol="0" anchor="ctr"/>
          <a:lstStyle/>
          <a:p>
            <a:pPr indent="0" marL="0">
              <a:buNone/>
            </a:pPr>
            <a:r>
              <a:rPr lang="en-US" sz="1150" dirty="0">
                <a:solidFill>
                  <a:srgbClr val="6A6F78"/>
                </a:solidFill>
                <a:latin typeface="Calibri" pitchFamily="34" charset="0"/>
                <a:ea typeface="Calibri" pitchFamily="34" charset="-122"/>
                <a:cs typeface="Calibri" pitchFamily="34" charset="-120"/>
              </a:rPr>
              <a:t>Apr</a:t>
            </a:r>
            <a:endParaRPr lang="en-US" sz="1150" dirty="0"/>
          </a:p>
        </p:txBody>
      </p:sp>
      <p:sp>
        <p:nvSpPr>
          <p:cNvPr id="11" name="Text 9"/>
          <p:cNvSpPr txBox="1"/>
          <p:nvPr/>
        </p:nvSpPr>
        <p:spPr>
          <a:xfrm>
            <a:off x="566928" y="2249013"/>
            <a:ext cx="1508760" cy="411754"/>
          </a:xfrm>
          <a:prstGeom prst="rect">
            <a:avLst/>
          </a:prstGeom>
          <a:noFill/>
          <a:ln/>
        </p:spPr>
        <p:txBody>
          <a:bodyPr wrap="square" lIns="0" tIns="0" rIns="0" bIns="0" rtlCol="0" anchor="ctr"/>
          <a:lstStyle/>
          <a:p>
            <a:pPr indent="0" marL="0">
              <a:buNone/>
            </a:pPr>
            <a:r>
              <a:rPr lang="en-US" sz="1300" b="1" dirty="0">
                <a:solidFill>
                  <a:srgbClr val="13161A"/>
                </a:solidFill>
                <a:latin typeface="Calibri" pitchFamily="34" charset="0"/>
                <a:ea typeface="Calibri" pitchFamily="34" charset="-122"/>
                <a:cs typeface="Calibri" pitchFamily="34" charset="-120"/>
              </a:rPr>
              <a:t>A  Sameer</a:t>
            </a:r>
            <a:endParaRPr lang="en-US" sz="1300" dirty="0"/>
          </a:p>
        </p:txBody>
      </p:sp>
      <p:sp>
        <p:nvSpPr>
          <p:cNvPr id="12" name="Shape 10"/>
          <p:cNvSpPr/>
          <p:nvPr/>
        </p:nvSpPr>
        <p:spPr>
          <a:xfrm>
            <a:off x="2167128" y="2314026"/>
            <a:ext cx="9144000" cy="281727"/>
          </a:xfrm>
          <a:prstGeom prst="roundRect">
            <a:avLst>
              <a:gd name="adj" fmla="val 19231"/>
            </a:avLst>
          </a:prstGeom>
          <a:solidFill>
            <a:srgbClr val="E6E2DA"/>
          </a:solidFill>
          <a:ln w="12700">
            <a:solidFill>
              <a:srgbClr val="E6E2DA"/>
            </a:solidFill>
            <a:prstDash val="solid"/>
          </a:ln>
        </p:spPr>
      </p:sp>
      <p:sp>
        <p:nvSpPr>
          <p:cNvPr id="13" name="Shape 11"/>
          <p:cNvSpPr/>
          <p:nvPr/>
        </p:nvSpPr>
        <p:spPr>
          <a:xfrm>
            <a:off x="2167128" y="2314026"/>
            <a:ext cx="8503920" cy="281727"/>
          </a:xfrm>
          <a:prstGeom prst="roundRect">
            <a:avLst>
              <a:gd name="adj" fmla="val 19231"/>
            </a:avLst>
          </a:prstGeom>
          <a:solidFill>
            <a:srgbClr val="C2410C"/>
          </a:solidFill>
          <a:ln w="12700">
            <a:solidFill>
              <a:srgbClr val="C2410C"/>
            </a:solidFill>
            <a:prstDash val="solid"/>
          </a:ln>
        </p:spPr>
      </p:sp>
      <p:sp>
        <p:nvSpPr>
          <p:cNvPr id="14" name="Text 12"/>
          <p:cNvSpPr txBox="1"/>
          <p:nvPr/>
        </p:nvSpPr>
        <p:spPr>
          <a:xfrm>
            <a:off x="566928" y="2920822"/>
            <a:ext cx="1508760" cy="411754"/>
          </a:xfrm>
          <a:prstGeom prst="rect">
            <a:avLst/>
          </a:prstGeom>
          <a:noFill/>
          <a:ln/>
        </p:spPr>
        <p:txBody>
          <a:bodyPr wrap="square" lIns="0" tIns="0" rIns="0" bIns="0" rtlCol="0" anchor="ctr"/>
          <a:lstStyle/>
          <a:p>
            <a:pPr indent="0" marL="0">
              <a:buNone/>
            </a:pPr>
            <a:r>
              <a:rPr lang="en-US" sz="1300" b="1" dirty="0">
                <a:solidFill>
                  <a:srgbClr val="13161A"/>
                </a:solidFill>
                <a:latin typeface="Calibri" pitchFamily="34" charset="0"/>
                <a:ea typeface="Calibri" pitchFamily="34" charset="-122"/>
                <a:cs typeface="Calibri" pitchFamily="34" charset="-120"/>
              </a:rPr>
              <a:t>B  Yax</a:t>
            </a:r>
            <a:endParaRPr lang="en-US" sz="1300" dirty="0"/>
          </a:p>
        </p:txBody>
      </p:sp>
      <p:sp>
        <p:nvSpPr>
          <p:cNvPr id="15" name="Shape 13"/>
          <p:cNvSpPr/>
          <p:nvPr/>
        </p:nvSpPr>
        <p:spPr>
          <a:xfrm>
            <a:off x="2167128" y="2985836"/>
            <a:ext cx="9144000" cy="281727"/>
          </a:xfrm>
          <a:prstGeom prst="roundRect">
            <a:avLst>
              <a:gd name="adj" fmla="val 19231"/>
            </a:avLst>
          </a:prstGeom>
          <a:solidFill>
            <a:srgbClr val="E6E2DA"/>
          </a:solidFill>
          <a:ln w="12700">
            <a:solidFill>
              <a:srgbClr val="E6E2DA"/>
            </a:solidFill>
            <a:prstDash val="solid"/>
          </a:ln>
        </p:spPr>
      </p:sp>
      <p:sp>
        <p:nvSpPr>
          <p:cNvPr id="16" name="Shape 14"/>
          <p:cNvSpPr/>
          <p:nvPr/>
        </p:nvSpPr>
        <p:spPr>
          <a:xfrm>
            <a:off x="2441448" y="2985836"/>
            <a:ext cx="8503920" cy="281727"/>
          </a:xfrm>
          <a:prstGeom prst="roundRect">
            <a:avLst>
              <a:gd name="adj" fmla="val 19231"/>
            </a:avLst>
          </a:prstGeom>
          <a:solidFill>
            <a:srgbClr val="0F766E"/>
          </a:solidFill>
          <a:ln w="12700">
            <a:solidFill>
              <a:srgbClr val="0F766E"/>
            </a:solidFill>
            <a:prstDash val="solid"/>
          </a:ln>
        </p:spPr>
      </p:sp>
      <p:sp>
        <p:nvSpPr>
          <p:cNvPr id="17" name="Text 15"/>
          <p:cNvSpPr txBox="1"/>
          <p:nvPr/>
        </p:nvSpPr>
        <p:spPr>
          <a:xfrm>
            <a:off x="566928" y="3592632"/>
            <a:ext cx="1508760" cy="411754"/>
          </a:xfrm>
          <a:prstGeom prst="rect">
            <a:avLst/>
          </a:prstGeom>
          <a:noFill/>
          <a:ln/>
        </p:spPr>
        <p:txBody>
          <a:bodyPr wrap="square" lIns="0" tIns="0" rIns="0" bIns="0" rtlCol="0" anchor="ctr"/>
          <a:lstStyle/>
          <a:p>
            <a:pPr indent="0" marL="0">
              <a:buNone/>
            </a:pPr>
            <a:r>
              <a:rPr lang="en-US" sz="1300" b="1" dirty="0">
                <a:solidFill>
                  <a:srgbClr val="13161A"/>
                </a:solidFill>
                <a:latin typeface="Calibri" pitchFamily="34" charset="0"/>
                <a:ea typeface="Calibri" pitchFamily="34" charset="-122"/>
                <a:cs typeface="Calibri" pitchFamily="34" charset="-120"/>
              </a:rPr>
              <a:t>C  Vaibhav</a:t>
            </a:r>
            <a:endParaRPr lang="en-US" sz="1300" dirty="0"/>
          </a:p>
        </p:txBody>
      </p:sp>
      <p:sp>
        <p:nvSpPr>
          <p:cNvPr id="18" name="Shape 16"/>
          <p:cNvSpPr/>
          <p:nvPr/>
        </p:nvSpPr>
        <p:spPr>
          <a:xfrm>
            <a:off x="2167128" y="3657646"/>
            <a:ext cx="9144000" cy="281727"/>
          </a:xfrm>
          <a:prstGeom prst="roundRect">
            <a:avLst>
              <a:gd name="adj" fmla="val 19231"/>
            </a:avLst>
          </a:prstGeom>
          <a:solidFill>
            <a:srgbClr val="E6E2DA"/>
          </a:solidFill>
          <a:ln w="12700">
            <a:solidFill>
              <a:srgbClr val="E6E2DA"/>
            </a:solidFill>
            <a:prstDash val="solid"/>
          </a:ln>
        </p:spPr>
      </p:sp>
      <p:sp>
        <p:nvSpPr>
          <p:cNvPr id="19" name="Shape 17"/>
          <p:cNvSpPr/>
          <p:nvPr/>
        </p:nvSpPr>
        <p:spPr>
          <a:xfrm>
            <a:off x="2167128" y="3657646"/>
            <a:ext cx="7223760" cy="281727"/>
          </a:xfrm>
          <a:prstGeom prst="roundRect">
            <a:avLst>
              <a:gd name="adj" fmla="val 19231"/>
            </a:avLst>
          </a:prstGeom>
          <a:solidFill>
            <a:srgbClr val="C2410C"/>
          </a:solidFill>
          <a:ln w="12700">
            <a:solidFill>
              <a:srgbClr val="C2410C"/>
            </a:solidFill>
            <a:prstDash val="solid"/>
          </a:ln>
        </p:spPr>
      </p:sp>
      <p:sp>
        <p:nvSpPr>
          <p:cNvPr id="20" name="Text 18"/>
          <p:cNvSpPr txBox="1"/>
          <p:nvPr/>
        </p:nvSpPr>
        <p:spPr>
          <a:xfrm>
            <a:off x="566928" y="4264442"/>
            <a:ext cx="1508760" cy="411754"/>
          </a:xfrm>
          <a:prstGeom prst="rect">
            <a:avLst/>
          </a:prstGeom>
          <a:noFill/>
          <a:ln/>
        </p:spPr>
        <p:txBody>
          <a:bodyPr wrap="square" lIns="0" tIns="0" rIns="0" bIns="0" rtlCol="0" anchor="ctr"/>
          <a:lstStyle/>
          <a:p>
            <a:pPr indent="0" marL="0">
              <a:buNone/>
            </a:pPr>
            <a:r>
              <a:rPr lang="en-US" sz="1300" b="1" dirty="0">
                <a:solidFill>
                  <a:srgbClr val="13161A"/>
                </a:solidFill>
                <a:latin typeface="Calibri" pitchFamily="34" charset="0"/>
                <a:ea typeface="Calibri" pitchFamily="34" charset="-122"/>
                <a:cs typeface="Calibri" pitchFamily="34" charset="-120"/>
              </a:rPr>
              <a:t>D  Siddh</a:t>
            </a:r>
            <a:endParaRPr lang="en-US" sz="1300" dirty="0"/>
          </a:p>
        </p:txBody>
      </p:sp>
      <p:sp>
        <p:nvSpPr>
          <p:cNvPr id="21" name="Shape 19"/>
          <p:cNvSpPr/>
          <p:nvPr/>
        </p:nvSpPr>
        <p:spPr>
          <a:xfrm>
            <a:off x="2167128" y="4329455"/>
            <a:ext cx="9144000" cy="281727"/>
          </a:xfrm>
          <a:prstGeom prst="roundRect">
            <a:avLst>
              <a:gd name="adj" fmla="val 19231"/>
            </a:avLst>
          </a:prstGeom>
          <a:solidFill>
            <a:srgbClr val="E6E2DA"/>
          </a:solidFill>
          <a:ln w="12700">
            <a:solidFill>
              <a:srgbClr val="E6E2DA"/>
            </a:solidFill>
            <a:prstDash val="solid"/>
          </a:ln>
        </p:spPr>
      </p:sp>
      <p:sp>
        <p:nvSpPr>
          <p:cNvPr id="22" name="Shape 20"/>
          <p:cNvSpPr/>
          <p:nvPr/>
        </p:nvSpPr>
        <p:spPr>
          <a:xfrm>
            <a:off x="2167128" y="4329455"/>
            <a:ext cx="8503920" cy="281727"/>
          </a:xfrm>
          <a:prstGeom prst="roundRect">
            <a:avLst>
              <a:gd name="adj" fmla="val 19231"/>
            </a:avLst>
          </a:prstGeom>
          <a:solidFill>
            <a:srgbClr val="0F766E"/>
          </a:solidFill>
          <a:ln w="12700">
            <a:solidFill>
              <a:srgbClr val="0F766E"/>
            </a:solidFill>
            <a:prstDash val="solid"/>
          </a:ln>
        </p:spPr>
      </p:sp>
      <p:sp>
        <p:nvSpPr>
          <p:cNvPr id="23" name="Shape 21"/>
          <p:cNvSpPr/>
          <p:nvPr/>
        </p:nvSpPr>
        <p:spPr>
          <a:xfrm>
            <a:off x="4535424" y="5033772"/>
            <a:ext cx="201168" cy="238384"/>
          </a:xfrm>
          <a:prstGeom prst="diamond">
            <a:avLst/>
          </a:prstGeom>
          <a:solidFill>
            <a:srgbClr val="13161A"/>
          </a:solidFill>
          <a:ln w="12700">
            <a:solidFill>
              <a:srgbClr val="13161A"/>
            </a:solidFill>
            <a:prstDash val="solid"/>
          </a:ln>
        </p:spPr>
      </p:sp>
      <p:sp>
        <p:nvSpPr>
          <p:cNvPr id="24" name="Text 22"/>
          <p:cNvSpPr txBox="1"/>
          <p:nvPr/>
        </p:nvSpPr>
        <p:spPr>
          <a:xfrm>
            <a:off x="4133088" y="5304663"/>
            <a:ext cx="1005840" cy="303398"/>
          </a:xfrm>
          <a:prstGeom prst="rect">
            <a:avLst/>
          </a:prstGeom>
          <a:noFill/>
          <a:ln/>
        </p:spPr>
        <p:txBody>
          <a:bodyPr wrap="square" lIns="0" tIns="0" rIns="0" bIns="0" rtlCol="0" anchor="ctr"/>
          <a:lstStyle/>
          <a:p>
            <a:pPr algn="ctr" indent="0" marL="0">
              <a:buNone/>
            </a:pPr>
            <a:r>
              <a:rPr lang="en-US" sz="1150" b="1" dirty="0">
                <a:solidFill>
                  <a:srgbClr val="13161A"/>
                </a:solidFill>
                <a:latin typeface="Calibri" pitchFamily="34" charset="0"/>
                <a:ea typeface="Calibri" pitchFamily="34" charset="-122"/>
                <a:cs typeface="Calibri" pitchFamily="34" charset="-120"/>
              </a:rPr>
              <a:t>Bronze</a:t>
            </a:r>
            <a:endParaRPr lang="en-US" sz="1150" dirty="0"/>
          </a:p>
        </p:txBody>
      </p:sp>
      <p:sp>
        <p:nvSpPr>
          <p:cNvPr id="25" name="Shape 23"/>
          <p:cNvSpPr/>
          <p:nvPr/>
        </p:nvSpPr>
        <p:spPr>
          <a:xfrm>
            <a:off x="8101584" y="5033772"/>
            <a:ext cx="201168" cy="238384"/>
          </a:xfrm>
          <a:prstGeom prst="diamond">
            <a:avLst/>
          </a:prstGeom>
          <a:solidFill>
            <a:srgbClr val="13161A"/>
          </a:solidFill>
          <a:ln w="12700">
            <a:solidFill>
              <a:srgbClr val="13161A"/>
            </a:solidFill>
            <a:prstDash val="solid"/>
          </a:ln>
        </p:spPr>
      </p:sp>
      <p:sp>
        <p:nvSpPr>
          <p:cNvPr id="26" name="Text 24"/>
          <p:cNvSpPr txBox="1"/>
          <p:nvPr/>
        </p:nvSpPr>
        <p:spPr>
          <a:xfrm>
            <a:off x="7699248" y="5304663"/>
            <a:ext cx="1005840" cy="303398"/>
          </a:xfrm>
          <a:prstGeom prst="rect">
            <a:avLst/>
          </a:prstGeom>
          <a:noFill/>
          <a:ln/>
        </p:spPr>
        <p:txBody>
          <a:bodyPr wrap="square" lIns="0" tIns="0" rIns="0" bIns="0" rtlCol="0" anchor="ctr"/>
          <a:lstStyle/>
          <a:p>
            <a:pPr algn="ctr" indent="0" marL="0">
              <a:buNone/>
            </a:pPr>
            <a:r>
              <a:rPr lang="en-US" sz="1150" b="1" dirty="0">
                <a:solidFill>
                  <a:srgbClr val="13161A"/>
                </a:solidFill>
                <a:latin typeface="Calibri" pitchFamily="34" charset="0"/>
                <a:ea typeface="Calibri" pitchFamily="34" charset="-122"/>
                <a:cs typeface="Calibri" pitchFamily="34" charset="-120"/>
              </a:rPr>
              <a:t>Silver</a:t>
            </a:r>
            <a:endParaRPr lang="en-US" sz="1150" dirty="0"/>
          </a:p>
        </p:txBody>
      </p:sp>
      <p:sp>
        <p:nvSpPr>
          <p:cNvPr id="27" name="Shape 25"/>
          <p:cNvSpPr/>
          <p:nvPr/>
        </p:nvSpPr>
        <p:spPr>
          <a:xfrm>
            <a:off x="10387584" y="5033772"/>
            <a:ext cx="201168" cy="238384"/>
          </a:xfrm>
          <a:prstGeom prst="diamond">
            <a:avLst/>
          </a:prstGeom>
          <a:solidFill>
            <a:srgbClr val="13161A"/>
          </a:solidFill>
          <a:ln w="12700">
            <a:solidFill>
              <a:srgbClr val="13161A"/>
            </a:solidFill>
            <a:prstDash val="solid"/>
          </a:ln>
        </p:spPr>
      </p:sp>
      <p:sp>
        <p:nvSpPr>
          <p:cNvPr id="28" name="Text 26"/>
          <p:cNvSpPr txBox="1"/>
          <p:nvPr/>
        </p:nvSpPr>
        <p:spPr>
          <a:xfrm>
            <a:off x="9985248" y="5304663"/>
            <a:ext cx="1005840" cy="303398"/>
          </a:xfrm>
          <a:prstGeom prst="rect">
            <a:avLst/>
          </a:prstGeom>
          <a:noFill/>
          <a:ln/>
        </p:spPr>
        <p:txBody>
          <a:bodyPr wrap="square" lIns="0" tIns="0" rIns="0" bIns="0" rtlCol="0" anchor="ctr"/>
          <a:lstStyle/>
          <a:p>
            <a:pPr algn="ctr" indent="0" marL="0">
              <a:buNone/>
            </a:pPr>
            <a:r>
              <a:rPr lang="en-US" sz="1150" b="1" dirty="0">
                <a:solidFill>
                  <a:srgbClr val="13161A"/>
                </a:solidFill>
                <a:latin typeface="Calibri" pitchFamily="34" charset="0"/>
                <a:ea typeface="Calibri" pitchFamily="34" charset="-122"/>
                <a:cs typeface="Calibri" pitchFamily="34" charset="-120"/>
              </a:rPr>
              <a:t>Gold</a:t>
            </a:r>
            <a:endParaRPr lang="en-US" sz="1150" dirty="0"/>
          </a:p>
        </p:txBody>
      </p:sp>
      <p:sp>
        <p:nvSpPr>
          <p:cNvPr id="29" name="Text 27"/>
          <p:cNvSpPr txBox="1"/>
          <p:nvPr/>
        </p:nvSpPr>
        <p:spPr>
          <a:xfrm>
            <a:off x="566928" y="5900623"/>
            <a:ext cx="11055096" cy="455097"/>
          </a:xfrm>
          <a:prstGeom prst="rect">
            <a:avLst/>
          </a:prstGeom>
          <a:noFill/>
          <a:ln/>
        </p:spPr>
        <p:txBody>
          <a:bodyPr wrap="square" lIns="0" tIns="0" rIns="0" bIns="0" rtlCol="0" anchor="ctr"/>
          <a:lstStyle/>
          <a:p>
            <a:pPr indent="0" marL="0">
              <a:buNone/>
            </a:pPr>
            <a:r>
              <a:rPr lang="en-US" sz="1500" dirty="0">
                <a:solidFill>
                  <a:srgbClr val="13161A"/>
                </a:solidFill>
                <a:latin typeface="Calibri" pitchFamily="34" charset="0"/>
                <a:ea typeface="Calibri" pitchFamily="34" charset="-122"/>
                <a:cs typeface="Calibri" pitchFamily="34" charset="-120"/>
              </a:rPr>
              <a:t>Bronze at week 8, Silver at 19, Gold at 26, with five weeks of float at the end for hardware delays.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566928" y="384048"/>
            <a:ext cx="329184" cy="329184"/>
          </a:xfrm>
          <a:prstGeom prst="roundRect">
            <a:avLst>
              <a:gd name="adj" fmla="val 16667"/>
            </a:avLst>
          </a:prstGeom>
          <a:solidFill>
            <a:srgbClr val="C2410C"/>
          </a:solidFill>
          <a:ln w="12700">
            <a:solidFill>
              <a:srgbClr val="C2410C"/>
            </a:solidFill>
            <a:prstDash val="solid"/>
          </a:ln>
        </p:spPr>
      </p:sp>
      <p:sp>
        <p:nvSpPr>
          <p:cNvPr id="3" name="Text 1"/>
          <p:cNvSpPr txBox="1"/>
          <p:nvPr/>
        </p:nvSpPr>
        <p:spPr>
          <a:xfrm>
            <a:off x="566928" y="3840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042416" y="310896"/>
            <a:ext cx="10579608" cy="512064"/>
          </a:xfrm>
          <a:prstGeom prst="rect">
            <a:avLst/>
          </a:prstGeom>
          <a:noFill/>
          <a:ln/>
        </p:spPr>
        <p:txBody>
          <a:bodyPr wrap="square" lIns="0" tIns="0" rIns="0" bIns="0" rtlCol="0" anchor="ctr"/>
          <a:lstStyle/>
          <a:p>
            <a:pPr indent="0" marL="0">
              <a:buNone/>
            </a:pPr>
            <a:r>
              <a:rPr lang="en-US" sz="3200" b="1" dirty="0">
                <a:solidFill>
                  <a:srgbClr val="13161A"/>
                </a:solidFill>
                <a:latin typeface="Calibri" pitchFamily="34" charset="0"/>
                <a:ea typeface="Calibri" pitchFamily="34" charset="-122"/>
                <a:cs typeface="Calibri" pitchFamily="34" charset="-120"/>
              </a:rPr>
              <a:t>What could go wrong, and what we do about it</a:t>
            </a:r>
            <a:endParaRPr lang="en-US" sz="3200" dirty="0"/>
          </a:p>
        </p:txBody>
      </p:sp>
      <p:sp>
        <p:nvSpPr>
          <p:cNvPr id="5" name="Shape 3"/>
          <p:cNvSpPr/>
          <p:nvPr/>
        </p:nvSpPr>
        <p:spPr>
          <a:xfrm>
            <a:off x="566928" y="1902272"/>
            <a:ext cx="310896" cy="368412"/>
          </a:xfrm>
          <a:prstGeom prst="roundRect">
            <a:avLst>
              <a:gd name="adj" fmla="val 17647"/>
            </a:avLst>
          </a:prstGeom>
          <a:solidFill>
            <a:srgbClr val="C2410C"/>
          </a:solidFill>
          <a:ln w="12700">
            <a:solidFill>
              <a:srgbClr val="C2410C"/>
            </a:solidFill>
            <a:prstDash val="solid"/>
          </a:ln>
        </p:spPr>
      </p:sp>
      <p:sp>
        <p:nvSpPr>
          <p:cNvPr id="6" name="Text 4"/>
          <p:cNvSpPr txBox="1"/>
          <p:nvPr/>
        </p:nvSpPr>
        <p:spPr>
          <a:xfrm>
            <a:off x="566928" y="1902272"/>
            <a:ext cx="310896" cy="36841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042416" y="1815587"/>
            <a:ext cx="4572000" cy="563453"/>
          </a:xfrm>
          <a:prstGeom prst="rect">
            <a:avLst/>
          </a:prstGeom>
          <a:noFill/>
          <a:ln/>
        </p:spPr>
        <p:txBody>
          <a:bodyPr wrap="square" lIns="0" tIns="0" rIns="0" bIns="0" rtlCol="0" anchor="ctr"/>
          <a:lstStyle/>
          <a:p>
            <a:pPr indent="0" marL="0">
              <a:buNone/>
            </a:pPr>
            <a:r>
              <a:rPr lang="en-US" sz="1450" b="1" dirty="0">
                <a:solidFill>
                  <a:srgbClr val="13161A"/>
                </a:solidFill>
                <a:latin typeface="Calibri" pitchFamily="34" charset="0"/>
                <a:ea typeface="Calibri" pitchFamily="34" charset="-122"/>
                <a:cs typeface="Calibri" pitchFamily="34" charset="-120"/>
              </a:rPr>
              <a:t>Place-and-route is 500x slower than the rest of the loop</a:t>
            </a:r>
            <a:endParaRPr lang="en-US" sz="1450" dirty="0"/>
          </a:p>
        </p:txBody>
      </p:sp>
      <p:sp>
        <p:nvSpPr>
          <p:cNvPr id="8" name="Text 6"/>
          <p:cNvSpPr txBox="1"/>
          <p:nvPr/>
        </p:nvSpPr>
        <p:spPr>
          <a:xfrm>
            <a:off x="5779008" y="1815587"/>
            <a:ext cx="5843016" cy="866851"/>
          </a:xfrm>
          <a:prstGeom prst="rect">
            <a:avLst/>
          </a:prstGeom>
          <a:noFill/>
          <a:ln/>
        </p:spPr>
        <p:txBody>
          <a:bodyPr wrap="square" lIns="0" tIns="0" rIns="0" bIns="0" rtlCol="0" anchor="ctr"/>
          <a:lstStyle/>
          <a:p>
            <a:pPr indent="0" marL="0">
              <a:buNone/>
            </a:pPr>
            <a:r>
              <a:rPr lang="en-US" sz="1300" dirty="0">
                <a:solidFill>
                  <a:srgbClr val="6A6F78"/>
                </a:solidFill>
                <a:latin typeface="Calibri" pitchFamily="34" charset="0"/>
                <a:ea typeface="Calibri" pitchFamily="34" charset="-122"/>
                <a:cs typeface="Calibri" pitchFamily="34" charset="-120"/>
              </a:rPr>
              <a:t>Two-tier loop. Agents iterate on the fast gates; routing runs once when they all pass, with retries capped.</a:t>
            </a:r>
            <a:endParaRPr lang="en-US" sz="1300" dirty="0"/>
          </a:p>
        </p:txBody>
      </p:sp>
      <p:sp>
        <p:nvSpPr>
          <p:cNvPr id="9" name="Shape 7"/>
          <p:cNvSpPr/>
          <p:nvPr/>
        </p:nvSpPr>
        <p:spPr>
          <a:xfrm>
            <a:off x="566928" y="2920822"/>
            <a:ext cx="310896" cy="368412"/>
          </a:xfrm>
          <a:prstGeom prst="roundRect">
            <a:avLst>
              <a:gd name="adj" fmla="val 17647"/>
            </a:avLst>
          </a:prstGeom>
          <a:solidFill>
            <a:srgbClr val="C2410C"/>
          </a:solidFill>
          <a:ln w="12700">
            <a:solidFill>
              <a:srgbClr val="C2410C"/>
            </a:solidFill>
            <a:prstDash val="solid"/>
          </a:ln>
        </p:spPr>
      </p:sp>
      <p:sp>
        <p:nvSpPr>
          <p:cNvPr id="10" name="Text 8"/>
          <p:cNvSpPr txBox="1"/>
          <p:nvPr/>
        </p:nvSpPr>
        <p:spPr>
          <a:xfrm>
            <a:off x="566928" y="2920822"/>
            <a:ext cx="310896" cy="36841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txBox="1"/>
          <p:nvPr/>
        </p:nvSpPr>
        <p:spPr>
          <a:xfrm>
            <a:off x="1042416" y="2834137"/>
            <a:ext cx="4572000" cy="563453"/>
          </a:xfrm>
          <a:prstGeom prst="rect">
            <a:avLst/>
          </a:prstGeom>
          <a:noFill/>
          <a:ln/>
        </p:spPr>
        <p:txBody>
          <a:bodyPr wrap="square" lIns="0" tIns="0" rIns="0" bIns="0" rtlCol="0" anchor="ctr"/>
          <a:lstStyle/>
          <a:p>
            <a:pPr indent="0" marL="0">
              <a:buNone/>
            </a:pPr>
            <a:r>
              <a:rPr lang="en-US" sz="1450" b="1" dirty="0">
                <a:solidFill>
                  <a:srgbClr val="13161A"/>
                </a:solidFill>
                <a:latin typeface="Calibri" pitchFamily="34" charset="0"/>
                <a:ea typeface="Calibri" pitchFamily="34" charset="-122"/>
                <a:cs typeface="Calibri" pitchFamily="34" charset="-120"/>
              </a:rPr>
              <a:t>An LLM may not fix its own RTL from tool output</a:t>
            </a:r>
            <a:endParaRPr lang="en-US" sz="1450" dirty="0"/>
          </a:p>
        </p:txBody>
      </p:sp>
      <p:sp>
        <p:nvSpPr>
          <p:cNvPr id="12" name="Text 10"/>
          <p:cNvSpPr txBox="1"/>
          <p:nvPr/>
        </p:nvSpPr>
        <p:spPr>
          <a:xfrm>
            <a:off x="5779008" y="2834137"/>
            <a:ext cx="5843016" cy="866851"/>
          </a:xfrm>
          <a:prstGeom prst="rect">
            <a:avLst/>
          </a:prstGeom>
          <a:noFill/>
          <a:ln/>
        </p:spPr>
        <p:txBody>
          <a:bodyPr wrap="square" lIns="0" tIns="0" rIns="0" bIns="0" rtlCol="0" anchor="ctr"/>
          <a:lstStyle/>
          <a:p>
            <a:pPr indent="0" marL="0">
              <a:buNone/>
            </a:pPr>
            <a:r>
              <a:rPr lang="en-US" sz="1300" dirty="0">
                <a:solidFill>
                  <a:srgbClr val="6A6F78"/>
                </a:solidFill>
                <a:latin typeface="Calibri" pitchFamily="34" charset="0"/>
                <a:ea typeface="Calibri" pitchFamily="34" charset="-122"/>
                <a:cs typeface="Calibri" pitchFamily="34" charset="-120"/>
              </a:rPr>
              <a:t>The deterministic agent already in the repo satisfies the loop. We narrow the claim honestly rather than overstate it.</a:t>
            </a:r>
            <a:endParaRPr lang="en-US" sz="1300" dirty="0"/>
          </a:p>
        </p:txBody>
      </p:sp>
      <p:sp>
        <p:nvSpPr>
          <p:cNvPr id="13" name="Shape 11"/>
          <p:cNvSpPr/>
          <p:nvPr/>
        </p:nvSpPr>
        <p:spPr>
          <a:xfrm>
            <a:off x="566928" y="3939372"/>
            <a:ext cx="310896" cy="368412"/>
          </a:xfrm>
          <a:prstGeom prst="roundRect">
            <a:avLst>
              <a:gd name="adj" fmla="val 17647"/>
            </a:avLst>
          </a:prstGeom>
          <a:solidFill>
            <a:srgbClr val="C2410C"/>
          </a:solidFill>
          <a:ln w="12700">
            <a:solidFill>
              <a:srgbClr val="C2410C"/>
            </a:solidFill>
            <a:prstDash val="solid"/>
          </a:ln>
        </p:spPr>
      </p:sp>
      <p:sp>
        <p:nvSpPr>
          <p:cNvPr id="14" name="Text 12"/>
          <p:cNvSpPr txBox="1"/>
          <p:nvPr/>
        </p:nvSpPr>
        <p:spPr>
          <a:xfrm>
            <a:off x="566928" y="3939372"/>
            <a:ext cx="310896" cy="36841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txBox="1"/>
          <p:nvPr/>
        </p:nvSpPr>
        <p:spPr>
          <a:xfrm>
            <a:off x="1042416" y="3852687"/>
            <a:ext cx="4572000" cy="563453"/>
          </a:xfrm>
          <a:prstGeom prst="rect">
            <a:avLst/>
          </a:prstGeom>
          <a:noFill/>
          <a:ln/>
        </p:spPr>
        <p:txBody>
          <a:bodyPr wrap="square" lIns="0" tIns="0" rIns="0" bIns="0" rtlCol="0" anchor="ctr"/>
          <a:lstStyle/>
          <a:p>
            <a:pPr indent="0" marL="0">
              <a:buNone/>
            </a:pPr>
            <a:r>
              <a:rPr lang="en-US" sz="1450" b="1" dirty="0">
                <a:solidFill>
                  <a:srgbClr val="13161A"/>
                </a:solidFill>
                <a:latin typeface="Calibri" pitchFamily="34" charset="0"/>
                <a:ea typeface="Calibri" pitchFamily="34" charset="-122"/>
                <a:cs typeface="Calibri" pitchFamily="34" charset="-120"/>
              </a:rPr>
              <a:t>Vendor tools do not run on every team machine</a:t>
            </a:r>
            <a:endParaRPr lang="en-US" sz="1450" dirty="0"/>
          </a:p>
        </p:txBody>
      </p:sp>
      <p:sp>
        <p:nvSpPr>
          <p:cNvPr id="16" name="Text 14"/>
          <p:cNvSpPr txBox="1"/>
          <p:nvPr/>
        </p:nvSpPr>
        <p:spPr>
          <a:xfrm>
            <a:off x="5779008" y="3852687"/>
            <a:ext cx="5843016" cy="866851"/>
          </a:xfrm>
          <a:prstGeom prst="rect">
            <a:avLst/>
          </a:prstGeom>
          <a:noFill/>
          <a:ln/>
        </p:spPr>
        <p:txBody>
          <a:bodyPr wrap="square" lIns="0" tIns="0" rIns="0" bIns="0" rtlCol="0" anchor="ctr"/>
          <a:lstStyle/>
          <a:p>
            <a:pPr indent="0" marL="0">
              <a:buNone/>
            </a:pPr>
            <a:r>
              <a:rPr lang="en-US" sz="1300" dirty="0">
                <a:solidFill>
                  <a:srgbClr val="6A6F78"/>
                </a:solidFill>
                <a:latin typeface="Calibri" pitchFamily="34" charset="0"/>
                <a:ea typeface="Calibri" pitchFamily="34" charset="-122"/>
                <a:cs typeface="Calibri" pitchFamily="34" charset="-120"/>
              </a:rPr>
              <a:t>Bitstream generation is assigned to one owner with a documented environment, not assumed to be available to all.</a:t>
            </a:r>
            <a:endParaRPr lang="en-US" sz="1300" dirty="0"/>
          </a:p>
        </p:txBody>
      </p:sp>
      <p:sp>
        <p:nvSpPr>
          <p:cNvPr id="17" name="Shape 15"/>
          <p:cNvSpPr/>
          <p:nvPr/>
        </p:nvSpPr>
        <p:spPr>
          <a:xfrm>
            <a:off x="566928" y="4957923"/>
            <a:ext cx="310896" cy="368412"/>
          </a:xfrm>
          <a:prstGeom prst="roundRect">
            <a:avLst>
              <a:gd name="adj" fmla="val 17647"/>
            </a:avLst>
          </a:prstGeom>
          <a:solidFill>
            <a:srgbClr val="C2410C"/>
          </a:solidFill>
          <a:ln w="12700">
            <a:solidFill>
              <a:srgbClr val="C2410C"/>
            </a:solidFill>
            <a:prstDash val="solid"/>
          </a:ln>
        </p:spPr>
      </p:sp>
      <p:sp>
        <p:nvSpPr>
          <p:cNvPr id="18" name="Text 16"/>
          <p:cNvSpPr txBox="1"/>
          <p:nvPr/>
        </p:nvSpPr>
        <p:spPr>
          <a:xfrm>
            <a:off x="566928" y="4957923"/>
            <a:ext cx="310896" cy="36841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7"/>
          <p:cNvSpPr txBox="1"/>
          <p:nvPr/>
        </p:nvSpPr>
        <p:spPr>
          <a:xfrm>
            <a:off x="1042416" y="4871237"/>
            <a:ext cx="4572000" cy="563453"/>
          </a:xfrm>
          <a:prstGeom prst="rect">
            <a:avLst/>
          </a:prstGeom>
          <a:noFill/>
          <a:ln/>
        </p:spPr>
        <p:txBody>
          <a:bodyPr wrap="square" lIns="0" tIns="0" rIns="0" bIns="0" rtlCol="0" anchor="ctr"/>
          <a:lstStyle/>
          <a:p>
            <a:pPr indent="0" marL="0">
              <a:buNone/>
            </a:pPr>
            <a:r>
              <a:rPr lang="en-US" sz="1450" b="1" dirty="0">
                <a:solidFill>
                  <a:srgbClr val="13161A"/>
                </a:solidFill>
                <a:latin typeface="Calibri" pitchFamily="34" charset="0"/>
                <a:ea typeface="Calibri" pitchFamily="34" charset="-122"/>
                <a:cs typeface="Calibri" pitchFamily="34" charset="-120"/>
              </a:rPr>
              <a:t>Hardware delays</a:t>
            </a:r>
            <a:endParaRPr lang="en-US" sz="1450" dirty="0"/>
          </a:p>
        </p:txBody>
      </p:sp>
      <p:sp>
        <p:nvSpPr>
          <p:cNvPr id="20" name="Text 18"/>
          <p:cNvSpPr txBox="1"/>
          <p:nvPr/>
        </p:nvSpPr>
        <p:spPr>
          <a:xfrm>
            <a:off x="5779008" y="4871237"/>
            <a:ext cx="5843016" cy="866851"/>
          </a:xfrm>
          <a:prstGeom prst="rect">
            <a:avLst/>
          </a:prstGeom>
          <a:noFill/>
          <a:ln/>
        </p:spPr>
        <p:txBody>
          <a:bodyPr wrap="square" lIns="0" tIns="0" rIns="0" bIns="0" rtlCol="0" anchor="ctr"/>
          <a:lstStyle/>
          <a:p>
            <a:pPr indent="0" marL="0">
              <a:buNone/>
            </a:pPr>
            <a:r>
              <a:rPr lang="en-US" sz="1300" dirty="0">
                <a:solidFill>
                  <a:srgbClr val="6A6F78"/>
                </a:solidFill>
                <a:latin typeface="Calibri" pitchFamily="34" charset="0"/>
                <a:ea typeface="Calibri" pitchFamily="34" charset="-122"/>
                <a:cs typeface="Calibri" pitchFamily="34" charset="-120"/>
              </a:rPr>
              <a:t>Two boards already in hand, so Bronze and Silver need no purchase at all.</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566928" y="384048"/>
            <a:ext cx="329184" cy="329184"/>
          </a:xfrm>
          <a:prstGeom prst="roundRect">
            <a:avLst>
              <a:gd name="adj" fmla="val 16667"/>
            </a:avLst>
          </a:prstGeom>
          <a:solidFill>
            <a:srgbClr val="C2410C"/>
          </a:solidFill>
          <a:ln w="12700">
            <a:solidFill>
              <a:srgbClr val="C2410C"/>
            </a:solidFill>
            <a:prstDash val="solid"/>
          </a:ln>
        </p:spPr>
      </p:sp>
      <p:sp>
        <p:nvSpPr>
          <p:cNvPr id="3" name="Text 1"/>
          <p:cNvSpPr txBox="1"/>
          <p:nvPr/>
        </p:nvSpPr>
        <p:spPr>
          <a:xfrm>
            <a:off x="566928" y="3840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042416" y="310896"/>
            <a:ext cx="10579608" cy="512064"/>
          </a:xfrm>
          <a:prstGeom prst="rect">
            <a:avLst/>
          </a:prstGeom>
          <a:noFill/>
          <a:ln/>
        </p:spPr>
        <p:txBody>
          <a:bodyPr wrap="square" lIns="0" tIns="0" rIns="0" bIns="0" rtlCol="0" anchor="ctr"/>
          <a:lstStyle/>
          <a:p>
            <a:pPr indent="0" marL="0">
              <a:buNone/>
            </a:pPr>
            <a:r>
              <a:rPr lang="en-US" sz="3200" b="1" dirty="0">
                <a:solidFill>
                  <a:srgbClr val="13161A"/>
                </a:solidFill>
                <a:latin typeface="Calibri" pitchFamily="34" charset="0"/>
                <a:ea typeface="Calibri" pitchFamily="34" charset="-122"/>
                <a:cs typeface="Calibri" pitchFamily="34" charset="-120"/>
              </a:rPr>
              <a:t>Where we are today</a:t>
            </a:r>
            <a:endParaRPr lang="en-US" sz="3200" dirty="0"/>
          </a:p>
        </p:txBody>
      </p:sp>
      <p:sp>
        <p:nvSpPr>
          <p:cNvPr id="5" name="Text 3"/>
          <p:cNvSpPr txBox="1"/>
          <p:nvPr/>
        </p:nvSpPr>
        <p:spPr>
          <a:xfrm>
            <a:off x="1042416" y="841248"/>
            <a:ext cx="10579608" cy="329184"/>
          </a:xfrm>
          <a:prstGeom prst="rect">
            <a:avLst/>
          </a:prstGeom>
          <a:noFill/>
          <a:ln/>
        </p:spPr>
        <p:txBody>
          <a:bodyPr wrap="square" lIns="0" tIns="0" rIns="0" bIns="0" rtlCol="0" anchor="ctr"/>
          <a:lstStyle/>
          <a:p>
            <a:pPr indent="0" marL="0">
              <a:buNone/>
            </a:pPr>
            <a:r>
              <a:rPr lang="en-US" sz="1400" dirty="0">
                <a:solidFill>
                  <a:srgbClr val="6A6F78"/>
                </a:solidFill>
                <a:latin typeface="Calibri" pitchFamily="34" charset="0"/>
                <a:ea typeface="Calibri" pitchFamily="34" charset="-122"/>
                <a:cs typeface="Calibri" pitchFamily="34" charset="-120"/>
              </a:rPr>
              <a:t>The software half already works. This is not a plan for something that does not exist.</a:t>
            </a:r>
            <a:endParaRPr lang="en-US" sz="1400" dirty="0"/>
          </a:p>
        </p:txBody>
      </p:sp>
      <p:sp>
        <p:nvSpPr>
          <p:cNvPr id="6" name="Shape 4"/>
          <p:cNvSpPr/>
          <p:nvPr/>
        </p:nvSpPr>
        <p:spPr>
          <a:xfrm>
            <a:off x="566928" y="1978122"/>
            <a:ext cx="2606040" cy="1896237"/>
          </a:xfrm>
          <a:prstGeom prst="roundRect">
            <a:avLst>
              <a:gd name="adj" fmla="val 4571"/>
            </a:avLst>
          </a:prstGeom>
          <a:solidFill>
            <a:srgbClr val="FFFFFF"/>
          </a:solidFill>
          <a:ln w="9525">
            <a:solidFill>
              <a:srgbClr val="DCD8D0"/>
            </a:solidFill>
            <a:prstDash val="solid"/>
          </a:ln>
        </p:spPr>
      </p:sp>
      <p:sp>
        <p:nvSpPr>
          <p:cNvPr id="7" name="Text 5"/>
          <p:cNvSpPr txBox="1"/>
          <p:nvPr/>
        </p:nvSpPr>
        <p:spPr>
          <a:xfrm>
            <a:off x="768096" y="2173163"/>
            <a:ext cx="2203704" cy="812673"/>
          </a:xfrm>
          <a:prstGeom prst="rect">
            <a:avLst/>
          </a:prstGeom>
          <a:noFill/>
          <a:ln/>
        </p:spPr>
        <p:txBody>
          <a:bodyPr wrap="square" lIns="0" tIns="0" rIns="0" bIns="0" rtlCol="0" anchor="ctr"/>
          <a:lstStyle/>
          <a:p>
            <a:pPr indent="0" marL="0">
              <a:buNone/>
            </a:pPr>
            <a:r>
              <a:rPr lang="en-US" sz="4000" b="1" dirty="0">
                <a:solidFill>
                  <a:srgbClr val="13161A"/>
                </a:solidFill>
                <a:latin typeface="Calibri" pitchFamily="34" charset="0"/>
                <a:ea typeface="Calibri" pitchFamily="34" charset="-122"/>
                <a:cs typeface="Calibri" pitchFamily="34" charset="-120"/>
              </a:rPr>
              <a:t>66</a:t>
            </a:r>
            <a:endParaRPr lang="en-US" sz="4000" dirty="0"/>
          </a:p>
        </p:txBody>
      </p:sp>
      <p:sp>
        <p:nvSpPr>
          <p:cNvPr id="8" name="Text 6"/>
          <p:cNvSpPr txBox="1"/>
          <p:nvPr/>
        </p:nvSpPr>
        <p:spPr>
          <a:xfrm>
            <a:off x="768096" y="3018343"/>
            <a:ext cx="2203704" cy="736824"/>
          </a:xfrm>
          <a:prstGeom prst="rect">
            <a:avLst/>
          </a:prstGeom>
          <a:noFill/>
          <a:ln/>
        </p:spPr>
        <p:txBody>
          <a:bodyPr wrap="square" lIns="0" tIns="0" rIns="0" bIns="0" rtlCol="0" anchor="ctr"/>
          <a:lstStyle/>
          <a:p>
            <a:pPr indent="0" marL="0">
              <a:buNone/>
            </a:pPr>
            <a:r>
              <a:rPr lang="en-US" sz="1250" dirty="0">
                <a:solidFill>
                  <a:srgbClr val="6A6F78"/>
                </a:solidFill>
                <a:latin typeface="Calibri" pitchFamily="34" charset="0"/>
                <a:ea typeface="Calibri" pitchFamily="34" charset="-122"/>
                <a:cs typeface="Calibri" pitchFamily="34" charset="-120"/>
              </a:rPr>
              <a:t>automated tests passing</a:t>
            </a:r>
            <a:endParaRPr lang="en-US" sz="1250" dirty="0"/>
          </a:p>
        </p:txBody>
      </p:sp>
      <p:sp>
        <p:nvSpPr>
          <p:cNvPr id="9" name="Shape 7"/>
          <p:cNvSpPr/>
          <p:nvPr/>
        </p:nvSpPr>
        <p:spPr>
          <a:xfrm>
            <a:off x="3374136" y="1978122"/>
            <a:ext cx="2606040" cy="1896237"/>
          </a:xfrm>
          <a:prstGeom prst="roundRect">
            <a:avLst>
              <a:gd name="adj" fmla="val 4571"/>
            </a:avLst>
          </a:prstGeom>
          <a:solidFill>
            <a:srgbClr val="FFFFFF"/>
          </a:solidFill>
          <a:ln w="9525">
            <a:solidFill>
              <a:srgbClr val="DCD8D0"/>
            </a:solidFill>
            <a:prstDash val="solid"/>
          </a:ln>
        </p:spPr>
      </p:sp>
      <p:sp>
        <p:nvSpPr>
          <p:cNvPr id="10" name="Text 8"/>
          <p:cNvSpPr txBox="1"/>
          <p:nvPr/>
        </p:nvSpPr>
        <p:spPr>
          <a:xfrm>
            <a:off x="3575304" y="2173163"/>
            <a:ext cx="2203704" cy="812673"/>
          </a:xfrm>
          <a:prstGeom prst="rect">
            <a:avLst/>
          </a:prstGeom>
          <a:noFill/>
          <a:ln/>
        </p:spPr>
        <p:txBody>
          <a:bodyPr wrap="square" lIns="0" tIns="0" rIns="0" bIns="0" rtlCol="0" anchor="ctr"/>
          <a:lstStyle/>
          <a:p>
            <a:pPr indent="0" marL="0">
              <a:buNone/>
            </a:pPr>
            <a:r>
              <a:rPr lang="en-US" sz="4000" b="1" dirty="0">
                <a:solidFill>
                  <a:srgbClr val="13161A"/>
                </a:solidFill>
                <a:latin typeface="Calibri" pitchFamily="34" charset="0"/>
                <a:ea typeface="Calibri" pitchFamily="34" charset="-122"/>
                <a:cs typeface="Calibri" pitchFamily="34" charset="-120"/>
              </a:rPr>
              <a:t>4</a:t>
            </a:r>
            <a:endParaRPr lang="en-US" sz="4000" dirty="0"/>
          </a:p>
        </p:txBody>
      </p:sp>
      <p:sp>
        <p:nvSpPr>
          <p:cNvPr id="11" name="Text 9"/>
          <p:cNvSpPr txBox="1"/>
          <p:nvPr/>
        </p:nvSpPr>
        <p:spPr>
          <a:xfrm>
            <a:off x="3575304" y="3018343"/>
            <a:ext cx="2203704" cy="736824"/>
          </a:xfrm>
          <a:prstGeom prst="rect">
            <a:avLst/>
          </a:prstGeom>
          <a:noFill/>
          <a:ln/>
        </p:spPr>
        <p:txBody>
          <a:bodyPr wrap="square" lIns="0" tIns="0" rIns="0" bIns="0" rtlCol="0" anchor="ctr"/>
          <a:lstStyle/>
          <a:p>
            <a:pPr indent="0" marL="0">
              <a:buNone/>
            </a:pPr>
            <a:r>
              <a:rPr lang="en-US" sz="1250" dirty="0">
                <a:solidFill>
                  <a:srgbClr val="6A6F78"/>
                </a:solidFill>
                <a:latin typeface="Calibri" pitchFamily="34" charset="0"/>
                <a:ea typeface="Calibri" pitchFamily="34" charset="-122"/>
                <a:cs typeface="Calibri" pitchFamily="34" charset="-120"/>
              </a:rPr>
              <a:t>tool gates already in the loop</a:t>
            </a:r>
            <a:endParaRPr lang="en-US" sz="1250" dirty="0"/>
          </a:p>
        </p:txBody>
      </p:sp>
      <p:sp>
        <p:nvSpPr>
          <p:cNvPr id="12" name="Shape 10"/>
          <p:cNvSpPr/>
          <p:nvPr/>
        </p:nvSpPr>
        <p:spPr>
          <a:xfrm>
            <a:off x="6181344" y="1978122"/>
            <a:ext cx="2606040" cy="1896237"/>
          </a:xfrm>
          <a:prstGeom prst="roundRect">
            <a:avLst>
              <a:gd name="adj" fmla="val 4571"/>
            </a:avLst>
          </a:prstGeom>
          <a:solidFill>
            <a:srgbClr val="FFFFFF"/>
          </a:solidFill>
          <a:ln w="9525">
            <a:solidFill>
              <a:srgbClr val="DCD8D0"/>
            </a:solidFill>
            <a:prstDash val="solid"/>
          </a:ln>
        </p:spPr>
      </p:sp>
      <p:sp>
        <p:nvSpPr>
          <p:cNvPr id="13" name="Text 11"/>
          <p:cNvSpPr txBox="1"/>
          <p:nvPr/>
        </p:nvSpPr>
        <p:spPr>
          <a:xfrm>
            <a:off x="6382512" y="2173163"/>
            <a:ext cx="2203704" cy="812673"/>
          </a:xfrm>
          <a:prstGeom prst="rect">
            <a:avLst/>
          </a:prstGeom>
          <a:noFill/>
          <a:ln/>
        </p:spPr>
        <p:txBody>
          <a:bodyPr wrap="square" lIns="0" tIns="0" rIns="0" bIns="0" rtlCol="0" anchor="ctr"/>
          <a:lstStyle/>
          <a:p>
            <a:pPr indent="0" marL="0">
              <a:buNone/>
            </a:pPr>
            <a:r>
              <a:rPr lang="en-US" sz="4000" b="1" dirty="0">
                <a:solidFill>
                  <a:srgbClr val="13161A"/>
                </a:solidFill>
                <a:latin typeface="Calibri" pitchFamily="34" charset="0"/>
                <a:ea typeface="Calibri" pitchFamily="34" charset="-122"/>
                <a:cs typeface="Calibri" pitchFamily="34" charset="-120"/>
              </a:rPr>
              <a:t>2.7 s</a:t>
            </a:r>
            <a:endParaRPr lang="en-US" sz="4000" dirty="0"/>
          </a:p>
        </p:txBody>
      </p:sp>
      <p:sp>
        <p:nvSpPr>
          <p:cNvPr id="14" name="Text 12"/>
          <p:cNvSpPr txBox="1"/>
          <p:nvPr/>
        </p:nvSpPr>
        <p:spPr>
          <a:xfrm>
            <a:off x="6382512" y="3018343"/>
            <a:ext cx="2203704" cy="736824"/>
          </a:xfrm>
          <a:prstGeom prst="rect">
            <a:avLst/>
          </a:prstGeom>
          <a:noFill/>
          <a:ln/>
        </p:spPr>
        <p:txBody>
          <a:bodyPr wrap="square" lIns="0" tIns="0" rIns="0" bIns="0" rtlCol="0" anchor="ctr"/>
          <a:lstStyle/>
          <a:p>
            <a:pPr indent="0" marL="0">
              <a:buNone/>
            </a:pPr>
            <a:r>
              <a:rPr lang="en-US" sz="1250" dirty="0">
                <a:solidFill>
                  <a:srgbClr val="6A6F78"/>
                </a:solidFill>
                <a:latin typeface="Calibri" pitchFamily="34" charset="0"/>
                <a:ea typeface="Calibri" pitchFamily="34" charset="-122"/>
                <a:cs typeface="Calibri" pitchFamily="34" charset="-120"/>
              </a:rPr>
              <a:t>for a full three-iteration convergence</a:t>
            </a:r>
            <a:endParaRPr lang="en-US" sz="1250" dirty="0"/>
          </a:p>
        </p:txBody>
      </p:sp>
      <p:sp>
        <p:nvSpPr>
          <p:cNvPr id="15" name="Shape 13"/>
          <p:cNvSpPr/>
          <p:nvPr/>
        </p:nvSpPr>
        <p:spPr>
          <a:xfrm>
            <a:off x="8988552" y="1978122"/>
            <a:ext cx="2606040" cy="1896237"/>
          </a:xfrm>
          <a:prstGeom prst="roundRect">
            <a:avLst>
              <a:gd name="adj" fmla="val 4571"/>
            </a:avLst>
          </a:prstGeom>
          <a:solidFill>
            <a:srgbClr val="F0E4DA"/>
          </a:solidFill>
          <a:ln w="9525">
            <a:solidFill>
              <a:srgbClr val="DCD8D0"/>
            </a:solidFill>
            <a:prstDash val="solid"/>
          </a:ln>
        </p:spPr>
      </p:sp>
      <p:sp>
        <p:nvSpPr>
          <p:cNvPr id="16" name="Text 14"/>
          <p:cNvSpPr txBox="1"/>
          <p:nvPr/>
        </p:nvSpPr>
        <p:spPr>
          <a:xfrm>
            <a:off x="9189720" y="2173163"/>
            <a:ext cx="2203704" cy="812673"/>
          </a:xfrm>
          <a:prstGeom prst="rect">
            <a:avLst/>
          </a:prstGeom>
          <a:noFill/>
          <a:ln/>
        </p:spPr>
        <p:txBody>
          <a:bodyPr wrap="square" lIns="0" tIns="0" rIns="0" bIns="0" rtlCol="0" anchor="ctr"/>
          <a:lstStyle/>
          <a:p>
            <a:pPr indent="0" marL="0">
              <a:buNone/>
            </a:pPr>
            <a:r>
              <a:rPr lang="en-US" sz="4000" b="1" dirty="0">
                <a:solidFill>
                  <a:srgbClr val="C2410C"/>
                </a:solidFill>
                <a:latin typeface="Calibri" pitchFamily="34" charset="0"/>
                <a:ea typeface="Calibri" pitchFamily="34" charset="-122"/>
                <a:cs typeface="Calibri" pitchFamily="34" charset="-120"/>
              </a:rPr>
              <a:t>0</a:t>
            </a:r>
            <a:endParaRPr lang="en-US" sz="4000" dirty="0"/>
          </a:p>
        </p:txBody>
      </p:sp>
      <p:sp>
        <p:nvSpPr>
          <p:cNvPr id="17" name="Text 15"/>
          <p:cNvSpPr txBox="1"/>
          <p:nvPr/>
        </p:nvSpPr>
        <p:spPr>
          <a:xfrm>
            <a:off x="9189720" y="3018343"/>
            <a:ext cx="2203704" cy="736824"/>
          </a:xfrm>
          <a:prstGeom prst="rect">
            <a:avLst/>
          </a:prstGeom>
          <a:noFill/>
          <a:ln/>
        </p:spPr>
        <p:txBody>
          <a:bodyPr wrap="square" lIns="0" tIns="0" rIns="0" bIns="0" rtlCol="0" anchor="ctr"/>
          <a:lstStyle/>
          <a:p>
            <a:pPr indent="0" marL="0">
              <a:buNone/>
            </a:pPr>
            <a:r>
              <a:rPr lang="en-US" sz="1250" dirty="0">
                <a:solidFill>
                  <a:srgbClr val="6A6F78"/>
                </a:solidFill>
                <a:latin typeface="Calibri" pitchFamily="34" charset="0"/>
                <a:ea typeface="Calibri" pitchFamily="34" charset="-122"/>
                <a:cs typeface="Calibri" pitchFamily="34" charset="-120"/>
              </a:rPr>
              <a:t>lines of our RTL on silicon yet</a:t>
            </a:r>
            <a:endParaRPr lang="en-US" sz="1250" dirty="0"/>
          </a:p>
        </p:txBody>
      </p:sp>
      <p:sp>
        <p:nvSpPr>
          <p:cNvPr id="18" name="Text 16"/>
          <p:cNvSpPr txBox="1"/>
          <p:nvPr/>
        </p:nvSpPr>
        <p:spPr>
          <a:xfrm>
            <a:off x="566928" y="4253606"/>
            <a:ext cx="11055096" cy="1083564"/>
          </a:xfrm>
          <a:prstGeom prst="rect">
            <a:avLst/>
          </a:prstGeom>
          <a:noFill/>
          <a:ln/>
        </p:spPr>
        <p:txBody>
          <a:bodyPr wrap="square" lIns="0" tIns="0" rIns="0" bIns="0" rtlCol="0" anchor="ctr"/>
          <a:lstStyle/>
          <a:p>
            <a:pPr indent="0" marL="0">
              <a:buNone/>
            </a:pPr>
            <a:r>
              <a:rPr lang="en-US" sz="1500" dirty="0">
                <a:solidFill>
                  <a:srgbClr val="13161A"/>
                </a:solidFill>
                <a:latin typeface="Calibri" pitchFamily="34" charset="0"/>
                <a:ea typeface="Calibri" pitchFamily="34" charset="-122"/>
                <a:cs typeface="Calibri" pitchFamily="34" charset="-120"/>
              </a:rPr>
              <a:t>Working now: hardware derived from the model spec, the endpoint derived from the link rate with an automatic retry when timing fails, real device resource mapping, batching, and decode validated in a packet-level fabric simulator. Claude Haiku wrote both blocks correctly first try.</a:t>
            </a:r>
            <a:endParaRPr lang="en-US" sz="1500" dirty="0"/>
          </a:p>
        </p:txBody>
      </p:sp>
      <p:sp>
        <p:nvSpPr>
          <p:cNvPr id="19" name="Text 17"/>
          <p:cNvSpPr txBox="1"/>
          <p:nvPr/>
        </p:nvSpPr>
        <p:spPr>
          <a:xfrm>
            <a:off x="566928" y="5391348"/>
            <a:ext cx="11055096" cy="455097"/>
          </a:xfrm>
          <a:prstGeom prst="rect">
            <a:avLst/>
          </a:prstGeom>
          <a:noFill/>
          <a:ln/>
        </p:spPr>
        <p:txBody>
          <a:bodyPr wrap="square" lIns="0" tIns="0" rIns="0" bIns="0" rtlCol="0" anchor="ctr"/>
          <a:lstStyle/>
          <a:p>
            <a:pPr indent="0" marL="0">
              <a:buNone/>
            </a:pPr>
            <a:r>
              <a:rPr lang="en-US" sz="1600" b="1" dirty="0">
                <a:solidFill>
                  <a:srgbClr val="C2410C"/>
                </a:solidFill>
                <a:latin typeface="Calibri" pitchFamily="34" charset="0"/>
                <a:ea typeface="Calibri" pitchFamily="34" charset="-122"/>
                <a:cs typeface="Calibri" pitchFamily="34" charset="-120"/>
              </a:rPr>
              <a:t>The last number is the honest one, and it is what the next eight weeks are for.</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3161A"/>
        </a:solidFill>
      </p:bgPr>
    </p:bg>
    <p:spTree>
      <p:nvGrpSpPr>
        <p:cNvPr id="1" name=""/>
        <p:cNvGrpSpPr/>
        <p:nvPr/>
      </p:nvGrpSpPr>
      <p:grpSpPr>
        <a:xfrm>
          <a:off x="0" y="0"/>
          <a:ext cx="0" cy="0"/>
          <a:chOff x="0" y="0"/>
          <a:chExt cx="0" cy="0"/>
        </a:xfrm>
      </p:grpSpPr>
      <p:sp>
        <p:nvSpPr>
          <p:cNvPr id="2" name="Text 0"/>
          <p:cNvSpPr txBox="1"/>
          <p:nvPr/>
        </p:nvSpPr>
        <p:spPr>
          <a:xfrm>
            <a:off x="566928" y="2303191"/>
            <a:ext cx="11055096" cy="1625346"/>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Given a model, build the hardware that runs it.</a:t>
            </a:r>
            <a:endParaRPr lang="en-US" sz="4000" dirty="0"/>
          </a:p>
        </p:txBody>
      </p:sp>
      <p:sp>
        <p:nvSpPr>
          <p:cNvPr id="3" name="Shape 1"/>
          <p:cNvSpPr/>
          <p:nvPr/>
        </p:nvSpPr>
        <p:spPr>
          <a:xfrm>
            <a:off x="566928" y="4091071"/>
            <a:ext cx="1554480" cy="54178"/>
          </a:xfrm>
          <a:prstGeom prst="roundRect">
            <a:avLst>
              <a:gd name="adj" fmla="val 40000"/>
            </a:avLst>
          </a:prstGeom>
          <a:solidFill>
            <a:srgbClr val="C2410C"/>
          </a:solidFill>
          <a:ln w="12700">
            <a:solidFill>
              <a:srgbClr val="C2410C"/>
            </a:solidFill>
            <a:prstDash val="solid"/>
          </a:ln>
        </p:spPr>
      </p:sp>
      <p:sp>
        <p:nvSpPr>
          <p:cNvPr id="4" name="Text 2"/>
          <p:cNvSpPr txBox="1"/>
          <p:nvPr/>
        </p:nvSpPr>
        <p:spPr>
          <a:xfrm>
            <a:off x="566928" y="4470319"/>
            <a:ext cx="11055096" cy="541782"/>
          </a:xfrm>
          <a:prstGeom prst="rect">
            <a:avLst/>
          </a:prstGeom>
          <a:noFill/>
          <a:ln/>
        </p:spPr>
        <p:txBody>
          <a:bodyPr wrap="square" lIns="0" tIns="0" rIns="0" bIns="0" rtlCol="0" anchor="ctr"/>
          <a:lstStyle/>
          <a:p>
            <a:pPr indent="0" marL="0">
              <a:buNone/>
            </a:pPr>
            <a:r>
              <a:rPr lang="en-US" sz="2100" dirty="0">
                <a:solidFill>
                  <a:srgbClr val="F0E4DA"/>
                </a:solidFill>
                <a:latin typeface="Calibri" pitchFamily="34" charset="0"/>
                <a:ea typeface="Calibri" pitchFamily="34" charset="-122"/>
                <a:cs typeface="Calibri" pitchFamily="34" charset="-120"/>
              </a:rPr>
              <a:t>Then scale it by adding boards, not by buying a bigger one.</a:t>
            </a:r>
            <a:endParaRPr lang="en-US" sz="2100" dirty="0"/>
          </a:p>
        </p:txBody>
      </p:sp>
      <p:sp>
        <p:nvSpPr>
          <p:cNvPr id="5" name="Text 3"/>
          <p:cNvSpPr txBox="1"/>
          <p:nvPr/>
        </p:nvSpPr>
        <p:spPr>
          <a:xfrm>
            <a:off x="566928" y="5716417"/>
            <a:ext cx="11055096" cy="433426"/>
          </a:xfrm>
          <a:prstGeom prst="rect">
            <a:avLst/>
          </a:prstGeom>
          <a:noFill/>
          <a:ln/>
        </p:spPr>
        <p:txBody>
          <a:bodyPr wrap="square" lIns="0" tIns="0" rIns="0" bIns="0" rtlCol="0" anchor="ctr"/>
          <a:lstStyle/>
          <a:p>
            <a:pPr indent="0" marL="0">
              <a:buNone/>
            </a:pPr>
            <a:r>
              <a:rPr lang="en-US" sz="1500" dirty="0">
                <a:solidFill>
                  <a:srgbClr val="6A6F78"/>
                </a:solidFill>
                <a:latin typeface="Courier New" pitchFamily="34" charset="0"/>
                <a:ea typeface="Courier New" pitchFamily="34" charset="-122"/>
                <a:cs typeface="Courier New" pitchFamily="34" charset="-120"/>
              </a:rPr>
              <a:t>github.com/SameerSul/agentic-fpga-scaleout</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fpgAI</dc:title>
  <dc:subject>PptxGenJS Presentation</dc:subject>
  <dc:creator>Group 9</dc:creator>
  <cp:lastModifiedBy>Group 9</cp:lastModifiedBy>
  <cp:revision>1</cp:revision>
  <dcterms:created xsi:type="dcterms:W3CDTF">2026-09-25T03:29:36Z</dcterms:created>
  <dcterms:modified xsi:type="dcterms:W3CDTF">2026-09-25T03:29:36Z</dcterms:modified>
</cp:coreProperties>
</file>